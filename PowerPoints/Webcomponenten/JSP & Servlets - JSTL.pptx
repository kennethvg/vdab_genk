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BB55D3-E79C-4BF6-86E2-5DC6C4DB1BAC}">
  <a:tblStyle styleId="{BFBB55D3-E79C-4BF6-86E2-5DC6C4DB1BAC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9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7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jstl.java.ne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omcat.apache.org/taglibs/standard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m.com/jsp/jstl/cor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sp/jstl/cor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JSP &amp; Servlets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JSTL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85C6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57200" y="290050"/>
            <a:ext cx="8229600" cy="46359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 sz="4800" b="1">
                <a:solidFill>
                  <a:srgbClr val="FFFFFF"/>
                </a:solidFill>
              </a:rPr>
              <a:t>JSTL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</a:t>
            </a:r>
            <a:r>
              <a:rPr lang="nl" sz="3000">
                <a:solidFill>
                  <a:srgbClr val="FFFFFF"/>
                </a:solidFill>
              </a:rPr>
              <a:t>JSTL</a:t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457200" y="800906"/>
            <a:ext cx="82296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just" rtl="0">
              <a:lnSpc>
                <a:spcPct val="115000"/>
              </a:lnSpc>
              <a:spcBef>
                <a:spcPts val="900"/>
              </a:spcBef>
              <a:spcAft>
                <a:spcPts val="1100"/>
              </a:spcAft>
              <a:buNone/>
            </a:pPr>
            <a:r>
              <a:rPr lang="nl" sz="2400" b="1">
                <a:solidFill>
                  <a:srgbClr val="3D85C6"/>
                </a:solidFill>
                <a:highlight>
                  <a:srgbClr val="FFFFFF"/>
                </a:highlight>
              </a:rPr>
              <a:t>JSTL = JavaServer Pages Standard Tag Library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 b="1">
              <a:solidFill>
                <a:srgbClr val="3D85C6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JSTL </a:t>
            </a:r>
            <a:r>
              <a:rPr lang="nl" sz="1800">
                <a:solidFill>
                  <a:schemeClr val="dk1"/>
                </a:solidFill>
              </a:rPr>
              <a:t>= verzameling libraries met</a:t>
            </a:r>
            <a:r>
              <a:rPr lang="nl" sz="1800" b="1">
                <a:solidFill>
                  <a:schemeClr val="dk1"/>
                </a:solidFill>
              </a:rPr>
              <a:t> server-sided tags</a:t>
            </a:r>
            <a:r>
              <a:rPr lang="nl" sz="1800">
                <a:solidFill>
                  <a:schemeClr val="dk1"/>
                </a:solidFill>
              </a:rPr>
              <a:t>.</a:t>
            </a:r>
            <a:br>
              <a:rPr lang="nl" sz="1800">
                <a:solidFill>
                  <a:schemeClr val="dk1"/>
                </a:solidFill>
              </a:rPr>
            </a:br>
            <a:endParaRPr lang="nl" sz="1800">
              <a:solidFill>
                <a:schemeClr val="dk1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600">
              <a:solidFill>
                <a:schemeClr val="dk1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Server-sided tags</a:t>
            </a:r>
            <a:r>
              <a:rPr lang="nl" sz="1800">
                <a:solidFill>
                  <a:schemeClr val="dk1"/>
                </a:solidFill>
              </a:rPr>
              <a:t> (in tegenstelling tot HTML tags) worden verwerkt door de webserver. De browser ziet ze nooit.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solidFill>
                  <a:schemeClr val="dk1"/>
                </a:solidFill>
              </a:rPr>
              <a:t>JSTL biedt nog </a:t>
            </a:r>
            <a:r>
              <a:rPr lang="nl" sz="1800" b="1">
                <a:solidFill>
                  <a:srgbClr val="3D85C6"/>
                </a:solidFill>
              </a:rPr>
              <a:t>meer functionaliteit</a:t>
            </a:r>
            <a:r>
              <a:rPr lang="nl" sz="1800">
                <a:solidFill>
                  <a:schemeClr val="dk1"/>
                </a:solidFill>
              </a:rPr>
              <a:t> aan JSP :</a:t>
            </a:r>
            <a:br>
              <a:rPr lang="nl" sz="1800">
                <a:solidFill>
                  <a:schemeClr val="dk1"/>
                </a:solidFill>
              </a:rPr>
            </a:br>
            <a:endParaRPr lang="nl" sz="1800">
              <a:solidFill>
                <a:schemeClr val="dk1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chemeClr val="dk1"/>
                </a:solidFill>
              </a:rPr>
              <a:t>standaard functionaliteit:</a:t>
            </a:r>
            <a:r>
              <a:rPr lang="nl" sz="1800">
                <a:solidFill>
                  <a:schemeClr val="dk1"/>
                </a:solidFill>
              </a:rPr>
              <a:t> 	iteratie, condities, internationalisatie, enz….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chemeClr val="dk1"/>
                </a:solidFill>
              </a:rPr>
              <a:t>eigen functionaliteit:</a:t>
            </a:r>
            <a:r>
              <a:rPr lang="nl" sz="1800">
                <a:solidFill>
                  <a:schemeClr val="dk1"/>
                </a:solidFill>
              </a:rPr>
              <a:t> 		custom tags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</a:t>
            </a:r>
            <a:r>
              <a:rPr lang="nl" sz="3000">
                <a:solidFill>
                  <a:srgbClr val="FFFFFF"/>
                </a:solidFill>
              </a:rPr>
              <a:t>Downloaden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457200" y="800906"/>
            <a:ext cx="82296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JSTL tags zijn geschreven in Java en bevinden zich in: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600"/>
          </a:p>
          <a:p>
            <a:pPr marL="9144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jstl1.2.jar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Hierin zitten de </a:t>
            </a:r>
            <a:r>
              <a:rPr lang="nl" sz="1800" b="1"/>
              <a:t>tag-classes</a:t>
            </a:r>
            <a:r>
              <a:rPr lang="nl" sz="1800"/>
              <a:t> en de </a:t>
            </a:r>
            <a:r>
              <a:rPr lang="nl" sz="1800" b="1"/>
              <a:t>tag library descriptor</a:t>
            </a:r>
            <a:r>
              <a:rPr lang="nl" sz="1800"/>
              <a:t> (TLD) vervat.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download link: </a:t>
            </a:r>
            <a:r>
              <a:rPr lang="nl" sz="1800" b="1" u="sng">
                <a:solidFill>
                  <a:schemeClr val="hlink"/>
                </a:solidFill>
                <a:hlinkClick r:id="rId3"/>
              </a:rPr>
              <a:t>http://jstl.java.net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/>
            </a:r>
            <a:br>
              <a:rPr lang="nl" sz="1800"/>
            </a:br>
            <a:r>
              <a:rPr lang="nl" sz="1800"/>
              <a:t>of</a:t>
            </a:r>
            <a:r>
              <a:rPr lang="nl" sz="1800" b="1"/>
              <a:t> </a:t>
            </a:r>
            <a:r>
              <a:rPr lang="nl" sz="1800" b="1" u="sng">
                <a:solidFill>
                  <a:schemeClr val="hlink"/>
                </a:solidFill>
                <a:hlinkClick r:id="rId4"/>
              </a:rPr>
              <a:t>http://tomcat.apache.org/taglibs/standard/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(Apache Standard Taglib, een implementation van JSTL)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</a:t>
            </a:r>
            <a:r>
              <a:rPr lang="nl" sz="3000">
                <a:solidFill>
                  <a:srgbClr val="FFFFFF"/>
                </a:solidFill>
              </a:rPr>
              <a:t>http://jstl.java.net</a:t>
            </a:r>
          </a:p>
        </p:txBody>
      </p:sp>
      <p:pic>
        <p:nvPicPr>
          <p:cNvPr id="51" name="Shape 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08125"/>
            <a:ext cx="8229598" cy="417516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Shape 52"/>
          <p:cNvSpPr/>
          <p:nvPr/>
        </p:nvSpPr>
        <p:spPr>
          <a:xfrm>
            <a:off x="566419" y="1696937"/>
            <a:ext cx="1766425" cy="1123000"/>
          </a:xfrm>
          <a:custGeom>
            <a:avLst/>
            <a:gdLst/>
            <a:ahLst/>
            <a:cxnLst/>
            <a:rect l="0" t="0" r="0" b="0"/>
            <a:pathLst>
              <a:path w="70657" h="44920" extrusionOk="0">
                <a:moveTo>
                  <a:pt x="39787" y="2508"/>
                </a:moveTo>
                <a:cubicBezTo>
                  <a:pt x="31906" y="256"/>
                  <a:pt x="23193" y="-924"/>
                  <a:pt x="15242" y="1064"/>
                </a:cubicBezTo>
                <a:cubicBezTo>
                  <a:pt x="7018" y="3120"/>
                  <a:pt x="-2779" y="14317"/>
                  <a:pt x="805" y="21999"/>
                </a:cubicBezTo>
                <a:cubicBezTo>
                  <a:pt x="7180" y="35660"/>
                  <a:pt x="25811" y="40303"/>
                  <a:pt x="40509" y="43656"/>
                </a:cubicBezTo>
                <a:cubicBezTo>
                  <a:pt x="48904" y="45570"/>
                  <a:pt x="59322" y="45671"/>
                  <a:pt x="66136" y="40407"/>
                </a:cubicBezTo>
                <a:cubicBezTo>
                  <a:pt x="75120" y="33464"/>
                  <a:pt x="69226" y="13931"/>
                  <a:pt x="60361" y="6839"/>
                </a:cubicBezTo>
                <a:cubicBezTo>
                  <a:pt x="53775" y="1570"/>
                  <a:pt x="44085" y="-950"/>
                  <a:pt x="35816" y="703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53" name="Shape 53"/>
          <p:cNvSpPr/>
          <p:nvPr/>
        </p:nvSpPr>
        <p:spPr>
          <a:xfrm>
            <a:off x="2418350" y="1813750"/>
            <a:ext cx="1434900" cy="6948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</a:t>
            </a:r>
            <a:r>
              <a:rPr lang="nl" sz="3000">
                <a:solidFill>
                  <a:srgbClr val="FFFFFF"/>
                </a:solidFill>
              </a:rPr>
              <a:t>Importeren van de jar bestanden</a:t>
            </a:r>
          </a:p>
        </p:txBody>
      </p:sp>
      <p:sp>
        <p:nvSpPr>
          <p:cNvPr id="59" name="Shape 59"/>
          <p:cNvSpPr txBox="1"/>
          <p:nvPr/>
        </p:nvSpPr>
        <p:spPr>
          <a:xfrm>
            <a:off x="2583700" y="1896225"/>
            <a:ext cx="3526200" cy="1205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3D85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Kopieer de library naar de map </a:t>
            </a:r>
            <a:r>
              <a:rPr lang="nl" sz="1800" b="1"/>
              <a:t>WebContent/WEB-INF/lib/ </a:t>
            </a:r>
            <a:r>
              <a:rPr lang="nl" sz="1800"/>
              <a:t>van je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URI associeren met een prefix</a:t>
            </a:r>
          </a:p>
        </p:txBody>
      </p:sp>
      <p:sp>
        <p:nvSpPr>
          <p:cNvPr id="65" name="Shape 65"/>
          <p:cNvSpPr txBox="1"/>
          <p:nvPr/>
        </p:nvSpPr>
        <p:spPr>
          <a:xfrm>
            <a:off x="371875" y="800906"/>
            <a:ext cx="83148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Herinner je nog de directives?</a:t>
            </a:r>
          </a:p>
          <a:p>
            <a:pPr marL="914400" lvl="0" indent="-342900" rt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nl" sz="1800">
                <a:solidFill>
                  <a:schemeClr val="dk1"/>
                </a:solidFill>
              </a:rPr>
              <a:t>Page directive:			</a:t>
            </a:r>
            <a:r>
              <a:rPr lang="nl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&lt;%@page …%&gt;</a:t>
            </a:r>
          </a:p>
          <a:p>
            <a:pPr marL="914400" lvl="0" indent="-342900" rt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nl" sz="1800">
                <a:solidFill>
                  <a:schemeClr val="dk1"/>
                </a:solidFill>
              </a:rPr>
              <a:t>Include directive:			</a:t>
            </a:r>
            <a:r>
              <a:rPr lang="nl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&lt;%@include … %&gt;</a:t>
            </a:r>
          </a:p>
          <a:p>
            <a:pPr marL="914400" lvl="0" indent="-342900" rt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nl" sz="1800">
                <a:solidFill>
                  <a:schemeClr val="dk1"/>
                </a:solidFill>
              </a:rPr>
              <a:t>Taglib directive:			</a:t>
            </a:r>
            <a:r>
              <a:rPr lang="nl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&lt;%@taglib .. %&gt;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 b="1">
              <a:solidFill>
                <a:srgbClr val="3D85C6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Om taglibs te kunnen gebruiken → eerst definiëren bovenaan de jsp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 b="1">
              <a:solidFill>
                <a:srgbClr val="3D85C6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Het definiëren van een taglib directive met een prefix: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latin typeface="Verdana"/>
                <a:ea typeface="Verdana"/>
                <a:cs typeface="Verdana"/>
                <a:sym typeface="Verdana"/>
              </a:rPr>
              <a:t>&lt;%@taglib prefix=”c” </a:t>
            </a:r>
          </a:p>
          <a:p>
            <a:pPr marL="18288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latin typeface="Verdana"/>
                <a:ea typeface="Verdana"/>
                <a:cs typeface="Verdana"/>
                <a:sym typeface="Verdana"/>
              </a:rPr>
              <a:t>  uri=”http://java.sun.com/jsp/jstl/core”%&gt;</a:t>
            </a:r>
            <a:r>
              <a:rPr lang="nl" sz="1800" b="1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URI associeren met een prefix</a:t>
            </a:r>
          </a:p>
        </p:txBody>
      </p:sp>
      <p:sp>
        <p:nvSpPr>
          <p:cNvPr id="71" name="Shape 71"/>
          <p:cNvSpPr txBox="1"/>
          <p:nvPr/>
        </p:nvSpPr>
        <p:spPr>
          <a:xfrm>
            <a:off x="371875" y="800906"/>
            <a:ext cx="83148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Definitie: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latin typeface="Verdana"/>
                <a:ea typeface="Verdana"/>
                <a:cs typeface="Verdana"/>
                <a:sym typeface="Verdana"/>
              </a:rPr>
              <a:t>&lt;%@taglib prefix=”c” </a:t>
            </a:r>
          </a:p>
          <a:p>
            <a:pPr marL="18288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latin typeface="Verdana"/>
                <a:ea typeface="Verdana"/>
                <a:cs typeface="Verdana"/>
                <a:sym typeface="Verdana"/>
              </a:rPr>
              <a:t>  uri=”http://java.sun.com/jsp/jstl/core”%&gt;</a:t>
            </a:r>
            <a:r>
              <a:rPr lang="nl" sz="1800" b="1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Het gebruik van een prefix: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Als je in een pagina een tag gebruikt uit de URI die je met een prefix associeerde, doe je dit zo: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latin typeface="Verdana"/>
                <a:ea typeface="Verdana"/>
                <a:cs typeface="Verdana"/>
                <a:sym typeface="Verdana"/>
              </a:rPr>
              <a:t>&lt;prefix:naamVanDeTag&gt;</a:t>
            </a:r>
            <a:r>
              <a:rPr lang="nl" sz="18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nl" sz="1800" b="1">
                <a:solidFill>
                  <a:srgbClr val="3D85C6"/>
                </a:solidFill>
              </a:rPr>
              <a:t>  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        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Een voorbeeld: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Het gebruik van de “set” tag (waarde toekennen)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&lt;c:set var “a” value=”5”&gt;</a:t>
            </a:r>
            <a:r>
              <a:rPr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nl" sz="18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(een variabele a krijgt de waarde 5)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Tag names en tag URI’s</a:t>
            </a:r>
          </a:p>
        </p:txBody>
      </p:sp>
      <p:sp>
        <p:nvSpPr>
          <p:cNvPr id="77" name="Shape 77"/>
          <p:cNvSpPr txBox="1"/>
          <p:nvPr/>
        </p:nvSpPr>
        <p:spPr>
          <a:xfrm>
            <a:off x="371875" y="800906"/>
            <a:ext cx="8314800" cy="4137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Regels: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Iedere JSTL tag heeft een </a:t>
            </a:r>
            <a:r>
              <a:rPr lang="nl" sz="1800" b="1"/>
              <a:t>naam</a:t>
            </a:r>
            <a:r>
              <a:rPr lang="nl" sz="1800"/>
              <a:t>, 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SzPct val="100000"/>
              <a:buChar char="○"/>
            </a:pPr>
            <a:r>
              <a:rPr lang="nl" sz="1800"/>
              <a:t>set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SzPct val="100000"/>
              <a:buChar char="○"/>
            </a:pPr>
            <a:r>
              <a:rPr lang="nl" sz="1800"/>
              <a:t>foreach, if,...</a:t>
            </a:r>
            <a:br>
              <a:rPr lang="nl" sz="1800"/>
            </a:br>
            <a:endParaRPr lang="nl" sz="1800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Iedere JSTL tag heeft een </a:t>
            </a:r>
            <a:r>
              <a:rPr lang="nl" sz="1800" b="1"/>
              <a:t>URI </a:t>
            </a:r>
            <a:r>
              <a:rPr lang="nl" sz="1800"/>
              <a:t>(of een associatie ernaar met een prefix, dat is in het voorbeeld hierboven die letter ‘c’ ), bijvoorbeeld: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SzPct val="100000"/>
              <a:buChar char="○"/>
            </a:pPr>
            <a:r>
              <a:rPr lang="nl" sz="1800"/>
              <a:t>de uri </a:t>
            </a:r>
            <a:r>
              <a:rPr lang="nl" sz="1800" b="1">
                <a:hlinkClick r:id="rId3"/>
              </a:rPr>
              <a:t>http://java.sum.com/jsp/jstl/core</a:t>
            </a:r>
            <a:r>
              <a:rPr lang="nl" sz="1800"/>
              <a:t/>
            </a:r>
            <a:br>
              <a:rPr lang="nl" sz="1800"/>
            </a:br>
            <a:endParaRPr lang="nl" sz="1800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Alle JSTL tags uit</a:t>
            </a:r>
            <a:r>
              <a:rPr lang="nl" sz="1800" b="1"/>
              <a:t> één library</a:t>
            </a:r>
            <a:r>
              <a:rPr lang="nl" sz="1800"/>
              <a:t> delen </a:t>
            </a:r>
            <a:r>
              <a:rPr lang="nl" sz="1800" b="1"/>
              <a:t>dezelfde URI</a:t>
            </a:r>
            <a:br>
              <a:rPr lang="nl" sz="1800" b="1"/>
            </a:br>
            <a:endParaRPr lang="nl" sz="1800" b="1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Bij gebruik van een tag library, kan je de URI associëren met een zelfgekozen </a:t>
            </a:r>
            <a:r>
              <a:rPr lang="nl" sz="1800" b="1"/>
              <a:t>prefix</a:t>
            </a:r>
            <a:r>
              <a:rPr lang="nl" sz="1800"/>
              <a:t>. (= dus die ‘c’ in ons voorbeeld) Dit doe je met de taglib directive.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b="1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JSTL Tag Libraries</a:t>
            </a:r>
          </a:p>
        </p:txBody>
      </p:sp>
      <p:graphicFrame>
        <p:nvGraphicFramePr>
          <p:cNvPr id="83" name="Shape 83"/>
          <p:cNvGraphicFramePr/>
          <p:nvPr/>
        </p:nvGraphicFramePr>
        <p:xfrm>
          <a:off x="865700" y="114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{BFBB55D3-E79C-4BF6-86E2-5DC6C4DB1BAC}</a:tableStyleId>
              </a:tblPr>
              <a:tblGrid>
                <a:gridCol w="12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Taglib</a:t>
                      </a:r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Prefix</a:t>
                      </a:r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Omschrijving</a:t>
                      </a:r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Core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c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De taglib met algemene (core) tags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Fmt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fmt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Taglib voor formatering van gegevens volgens I18N normen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Sql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sql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Taglib voor het gebruik van SQL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XML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x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Taglib voor het werken met XML bestanden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 b="1"/>
                        <a:t>Functions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fn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nl"/>
                        <a:t>Taglib met allerlei functies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5E8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457200" y="290050"/>
            <a:ext cx="8229600" cy="46359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4800" b="1">
                <a:solidFill>
                  <a:srgbClr val="0B5394"/>
                </a:solidFill>
              </a:rPr>
              <a:t>JSTL Core Tags: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JSTL Core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457200" y="929887"/>
            <a:ext cx="8229600" cy="37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>
                <a:solidFill>
                  <a:schemeClr val="dk1"/>
                </a:solidFill>
              </a:rPr>
              <a:t>Algemene tags om </a:t>
            </a:r>
          </a:p>
          <a:p>
            <a:pPr marL="9144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nl" sz="1800">
                <a:solidFill>
                  <a:schemeClr val="dk1"/>
                </a:solidFill>
              </a:rPr>
              <a:t>gegevens in een document op te nemen</a:t>
            </a:r>
          </a:p>
          <a:p>
            <a:pPr marL="9144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nl" sz="1800">
                <a:solidFill>
                  <a:schemeClr val="dk1"/>
                </a:solidFill>
              </a:rPr>
              <a:t>variabelen te declareren en te gebruiken</a:t>
            </a:r>
          </a:p>
          <a:p>
            <a:pPr marL="9144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nl" sz="1800">
                <a:solidFill>
                  <a:schemeClr val="dk1"/>
                </a:solidFill>
              </a:rPr>
              <a:t>Itereren </a:t>
            </a:r>
          </a:p>
          <a:p>
            <a:pPr marL="9144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nl" sz="1800">
                <a:solidFill>
                  <a:schemeClr val="dk1"/>
                </a:solidFill>
              </a:rPr>
              <a:t>Condities</a:t>
            </a:r>
          </a:p>
          <a:p>
            <a:pPr marL="9144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nl" sz="1800">
                <a:solidFill>
                  <a:schemeClr val="dk1"/>
                </a:solidFill>
              </a:rPr>
              <a:t>URL beheer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600" b="1">
              <a:solidFill>
                <a:srgbClr val="3D85C6"/>
              </a:solidFill>
            </a:endParaRP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 b="1"/>
              <a:t>De absolute URI van deze Core Taglib is:</a:t>
            </a:r>
          </a:p>
          <a:p>
            <a:pPr marL="457200" lvl="0" indent="3873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 u="sng">
                <a:solidFill>
                  <a:schemeClr val="hlink"/>
                </a:solidFill>
                <a:hlinkClick r:id="rId3"/>
              </a:rPr>
              <a:t>http://java.sun.com/jsp/jstl/core</a:t>
            </a:r>
          </a:p>
          <a:p>
            <a:pPr marL="457200" lvl="0" indent="3873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800"/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 b="1"/>
              <a:t>De taglib directive: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/>
              <a:t>		&lt;%@ taglib prefix=”c” uri=”http://java.sun.com/jsp/jstl/core”%&gt;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100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&lt;c:url&gt;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457200" y="929873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De tag &lt;c:url&gt; helpt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 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bepaalde problemen van relatieve/absolute URL’s binnen je website op te lossen.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een query string (met parameters) toe te voegen aan een URL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solidFill>
                  <a:srgbClr val="3D85C6"/>
                </a:solidFill>
              </a:rPr>
              <a:t>ALTERNATIEF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>
                <a:solidFill>
                  <a:schemeClr val="dk1"/>
                </a:solidFill>
              </a:rPr>
              <a:t>Er bestaat een alternatieve manier om correcte URL’s te maken: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>
                <a:solidFill>
                  <a:schemeClr val="dk1"/>
                </a:solidFill>
              </a:rPr>
              <a:t>de EL expressie </a:t>
            </a:r>
            <a:r>
              <a:rPr lang="nl" sz="1800" b="1">
                <a:solidFill>
                  <a:schemeClr val="dk1"/>
                </a:solidFill>
              </a:rPr>
              <a:t>${pageContext.servletContext.contextPath}</a:t>
            </a:r>
            <a:r>
              <a:rPr lang="nl" sz="1800">
                <a:solidFill>
                  <a:schemeClr val="dk1"/>
                </a:solidFill>
              </a:rPr>
              <a:t> geeft het context path van je website (/pizzamamamia).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800" b="1">
              <a:solidFill>
                <a:srgbClr val="3D85C6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solidFill>
                  <a:srgbClr val="FF0000"/>
                </a:solidFill>
              </a:rPr>
              <a:t>Probeer nu de tag &lt;c:url&gt; uit op de oefening van daarnet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100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&lt;c:import&gt;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457200" y="881175"/>
            <a:ext cx="8229600" cy="1026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Toevoegen van kleine (gemeenschappelijke) jsp code,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bijvoorbeeld een menu.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91925" y="2064150"/>
            <a:ext cx="8131200" cy="1408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1800" b="1">
                <a:solidFill>
                  <a:srgbClr val="FF0000"/>
                </a:solidFill>
              </a:rPr>
              <a:t>Opdracht</a:t>
            </a:r>
          </a:p>
          <a:p>
            <a:pPr lvl="0" rtl="0">
              <a:spcBef>
                <a:spcPts val="0"/>
              </a:spcBef>
              <a:buNone/>
            </a:pPr>
            <a:endParaRPr sz="1800" b="1">
              <a:solidFill>
                <a:srgbClr val="FF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nl" sz="1800"/>
              <a:t>Maak een afzonderlijke jsp voor het menu aan en importeer deze in het vervolg in alle pagina’s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100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&lt;c:forEach&gt;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457200" y="800906"/>
            <a:ext cx="8229600" cy="405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 b="1">
                <a:solidFill>
                  <a:srgbClr val="3D85C6"/>
                </a:solidFill>
              </a:rPr>
              <a:t>Algemeen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Met </a:t>
            </a:r>
            <a:r>
              <a:rPr lang="nl" sz="1800" b="1"/>
              <a:t>&lt;c:forEach&gt;</a:t>
            </a:r>
            <a:r>
              <a:rPr lang="nl" sz="1800"/>
              <a:t> wordt over de elementen van een verzameling geïtereerd.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 b="1">
                <a:solidFill>
                  <a:srgbClr val="3D85C6"/>
                </a:solidFill>
              </a:rPr>
              <a:t>Syntax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latin typeface="Verdana"/>
                <a:ea typeface="Verdana"/>
                <a:cs typeface="Verdana"/>
                <a:sym typeface="Verdana"/>
              </a:rPr>
              <a:t>&lt;c:forEach var = “eenVariabele” items=”${eenVerzameling}&gt;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latin typeface="Verdana"/>
                <a:ea typeface="Verdana"/>
                <a:cs typeface="Verdana"/>
                <a:sym typeface="Verdana"/>
              </a:rPr>
              <a:t>…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latin typeface="Verdana"/>
                <a:ea typeface="Verdana"/>
                <a:cs typeface="Verdana"/>
                <a:sym typeface="Verdana"/>
              </a:rPr>
              <a:t>&lt;/c: forEach&gt;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2400" b="1">
              <a:solidFill>
                <a:srgbClr val="3D85C6"/>
              </a:solidFill>
            </a:endParaRPr>
          </a:p>
          <a:p>
            <a:pPr marL="1371600" lvl="0" indent="45720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1371600" lvl="0" indent="45720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1371600" lvl="0" indent="45720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13716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Het gelijkt een beetje op java ;-)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Itereren zonder verzameling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457200" y="800906"/>
            <a:ext cx="81294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Met de attributen </a:t>
            </a:r>
            <a:r>
              <a:rPr lang="nl" sz="1800" b="1"/>
              <a:t>begin</a:t>
            </a:r>
            <a:r>
              <a:rPr lang="nl" sz="1800"/>
              <a:t> en </a:t>
            </a:r>
            <a:r>
              <a:rPr lang="nl" sz="1800" b="1"/>
              <a:t>end</a:t>
            </a:r>
            <a:r>
              <a:rPr lang="nl" sz="1800"/>
              <a:t> in een </a:t>
            </a:r>
            <a:r>
              <a:rPr lang="nl" sz="1800" b="1"/>
              <a:t>forEach</a:t>
            </a:r>
            <a:r>
              <a:rPr lang="nl" sz="1800"/>
              <a:t> tag maak je een lus zonder verzameling.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 b="1">
                <a:solidFill>
                  <a:srgbClr val="3D85C6"/>
                </a:solidFill>
              </a:rPr>
              <a:t>Voorbeeld: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4 keer itereren met behulp van een index: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>
                <a:latin typeface="Verdana"/>
                <a:ea typeface="Verdana"/>
                <a:cs typeface="Verdana"/>
                <a:sym typeface="Verdana"/>
              </a:rPr>
              <a:t>&lt;c:forEach var=”index” begin=”1” end=”4”&gt;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In de volgende opdracht gaan we 5 keer een ster afbeelden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&lt;c:forEach varstatus=”status”&gt;</a:t>
            </a:r>
          </a:p>
        </p:txBody>
      </p:sp>
      <p:pic>
        <p:nvPicPr>
          <p:cNvPr id="125" name="Shape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65750"/>
            <a:ext cx="8151400" cy="417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&lt;c:forEach varstatus=”status”&gt;</a:t>
            </a:r>
          </a:p>
        </p:txBody>
      </p:sp>
      <p:pic>
        <p:nvPicPr>
          <p:cNvPr id="131" name="Shape 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37" y="977225"/>
            <a:ext cx="8185125" cy="36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B9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457200" y="290050"/>
            <a:ext cx="8229600" cy="46359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4800" b="1">
                <a:solidFill>
                  <a:srgbClr val="B45F06"/>
                </a:solidFill>
              </a:rPr>
              <a:t>Oefening op &lt;c:forEach&gt;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F9CB9C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</a:t>
            </a:r>
            <a:r>
              <a:rPr lang="nl" sz="3000">
                <a:solidFill>
                  <a:srgbClr val="B45F06"/>
                </a:solidFill>
              </a:rPr>
              <a:t>oefening op &lt;c:forEach&gt;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457200" y="800906"/>
            <a:ext cx="82296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Maak een nieuwe servlet aan die de GET request naar “/personen” verwerkt.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In deze servlet maak je een lijst van 10 personen aan. Vul telkens hun naam en adres in.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Stuur de data door naar een view.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  <a:buChar char="●"/>
            </a:pPr>
            <a:r>
              <a:rPr lang="nl" sz="1800"/>
              <a:t>In deze view toon je de gegevens van de vierde en de vijfde persoon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5E8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457200" y="290050"/>
            <a:ext cx="8229600" cy="46359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4800" b="1">
                <a:solidFill>
                  <a:srgbClr val="0B5394"/>
                </a:solidFill>
              </a:rPr>
              <a:t>Nog enkele Core Tags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&lt;c:if&gt;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457200" y="800906"/>
            <a:ext cx="8229600" cy="3965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 b="1">
                <a:solidFill>
                  <a:srgbClr val="3D85C6"/>
                </a:solidFill>
              </a:rPr>
              <a:t>Syntax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0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latin typeface="Verdana"/>
                <a:ea typeface="Verdana"/>
                <a:cs typeface="Verdana"/>
                <a:sym typeface="Verdana"/>
              </a:rPr>
              <a:t>&lt;c: if test=”voorwaardeUitgedruktAlsELExpressie&gt; … &lt;/c:if&gt;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600">
              <a:latin typeface="Verdana"/>
              <a:ea typeface="Verdana"/>
              <a:cs typeface="Verdana"/>
              <a:sym typeface="Verdana"/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600">
              <a:latin typeface="Verdana"/>
              <a:ea typeface="Verdana"/>
              <a:cs typeface="Verdana"/>
              <a:sym typeface="Verdana"/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600">
              <a:latin typeface="Verdana"/>
              <a:ea typeface="Verdana"/>
              <a:cs typeface="Verdana"/>
              <a:sym typeface="Verdana"/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600">
              <a:latin typeface="Verdana"/>
              <a:ea typeface="Verdana"/>
              <a:cs typeface="Verdana"/>
              <a:sym typeface="Verdana"/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 b="1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 b="1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&lt;c:choose&gt;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457200" y="800906"/>
            <a:ext cx="82296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Deze tag is vergelijkbaar met het switch statement uit Java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 b="1">
                <a:solidFill>
                  <a:srgbClr val="3D85C6"/>
                </a:solidFill>
              </a:rPr>
              <a:t>Syntax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2400" b="1">
              <a:solidFill>
                <a:srgbClr val="3D85C6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</p:txBody>
      </p:sp>
      <p:pic>
        <p:nvPicPr>
          <p:cNvPr id="160" name="Shape 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75" y="2132852"/>
            <a:ext cx="6105469" cy="205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B9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457200" y="290050"/>
            <a:ext cx="8229600" cy="46359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4800" b="1">
                <a:solidFill>
                  <a:srgbClr val="B45F06"/>
                </a:solidFill>
              </a:rPr>
              <a:t>Oefening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F9CB9C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</a:t>
            </a:r>
            <a:r>
              <a:rPr lang="nl" sz="3000">
                <a:solidFill>
                  <a:srgbClr val="B45F06"/>
                </a:solidFill>
              </a:rPr>
              <a:t>oefening op </a:t>
            </a:r>
          </a:p>
        </p:txBody>
      </p:sp>
      <p:sp>
        <p:nvSpPr>
          <p:cNvPr id="171" name="Shape 171"/>
          <p:cNvSpPr txBox="1"/>
          <p:nvPr/>
        </p:nvSpPr>
        <p:spPr>
          <a:xfrm>
            <a:off x="457200" y="800906"/>
            <a:ext cx="82296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Herhaal de vorige oefening.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Zorg ervoor dat enkele personen in dezelfde gemeente wonen.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Druk in uw view eerst de personen van die gemeente af,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vermeld dan het aantal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Druk daaronder alle andere personen af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vermeld ook het aantal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&lt;c:out&gt;</a:t>
            </a:r>
          </a:p>
        </p:txBody>
      </p:sp>
      <p:pic>
        <p:nvPicPr>
          <p:cNvPr id="177" name="Shape 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31525"/>
            <a:ext cx="6172200" cy="35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3D85C6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&lt;c:set&gt;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457200" y="800906"/>
            <a:ext cx="82296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 b="1">
                <a:solidFill>
                  <a:srgbClr val="3D85C6"/>
                </a:solidFill>
              </a:rPr>
              <a:t>Algemeen</a:t>
            </a:r>
            <a:br>
              <a:rPr lang="nl" sz="2400" b="1">
                <a:solidFill>
                  <a:srgbClr val="3D85C6"/>
                </a:solidFill>
              </a:rPr>
            </a:br>
            <a:endParaRPr lang="nl" sz="2400" b="1">
              <a:solidFill>
                <a:srgbClr val="3D85C6"/>
              </a:solidFill>
            </a:endParaRP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Wordt gebruikt om een variabele in te vullen. Deze kan dan in de rest van je JSP gebruikt worden.</a:t>
            </a:r>
            <a:br>
              <a:rPr lang="nl" sz="1800"/>
            </a:br>
            <a:endParaRPr lang="nl" sz="1800"/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Deze variabele heet een </a:t>
            </a:r>
            <a:r>
              <a:rPr lang="nl" sz="1800" b="1"/>
              <a:t>page scope variabele</a:t>
            </a:r>
            <a:r>
              <a:rPr lang="nl" sz="1800"/>
              <a:t>. De levensduur (scope) van de variabele is beperkt tot de pagina waarin de variabele werd aangemaakt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2400" b="1">
                <a:solidFill>
                  <a:srgbClr val="3D85C6"/>
                </a:solidFill>
              </a:rPr>
              <a:t>Syntax</a:t>
            </a:r>
            <a:br>
              <a:rPr lang="nl" sz="2400" b="1">
                <a:solidFill>
                  <a:srgbClr val="3D85C6"/>
                </a:solidFill>
              </a:rPr>
            </a:br>
            <a:endParaRPr lang="nl" sz="2400" b="1">
              <a:solidFill>
                <a:srgbClr val="3D85C6"/>
              </a:solidFill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>
                <a:latin typeface="Verdana"/>
                <a:ea typeface="Verdana"/>
                <a:cs typeface="Verdana"/>
                <a:sym typeface="Verdana"/>
              </a:rPr>
              <a:t>&lt;c: set var=”naamVanDeVariabele” value=”inhoud” /&gt;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title"/>
          </p:nvPr>
        </p:nvSpPr>
        <p:spPr>
          <a:xfrm>
            <a:off x="457200" y="205984"/>
            <a:ext cx="8229600" cy="527099"/>
          </a:xfrm>
          <a:prstGeom prst="rect">
            <a:avLst/>
          </a:prstGeom>
          <a:solidFill>
            <a:srgbClr val="F1C232"/>
          </a:solidFill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nl" sz="3000">
                <a:solidFill>
                  <a:srgbClr val="CFE2F3"/>
                </a:solidFill>
              </a:rPr>
              <a:t>  </a:t>
            </a:r>
            <a:r>
              <a:rPr lang="nl" sz="3000">
                <a:solidFill>
                  <a:srgbClr val="FFFFFF"/>
                </a:solidFill>
              </a:rPr>
              <a:t>Opmerking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457200" y="800906"/>
            <a:ext cx="8229600" cy="404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 b="1"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/>
              <a:t>Page directives </a:t>
            </a:r>
            <a:r>
              <a:rPr lang="nl" sz="1800"/>
              <a:t>(regels die beginnen met &lt;%@)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 b="1"/>
              <a:t>+ oproepen van server-sided tags (</a:t>
            </a:r>
            <a:r>
              <a:rPr lang="nl" sz="1800"/>
              <a:t>&lt;c:set ..&gt;, &lt;c:forEach&gt;, …)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veroorzaken lege regels in de HTML instructies die de JSP naar de browser stuurt.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/>
              <a:t>Je kan dit vermijden met volgende aanpassing: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solidFill>
                  <a:srgbClr val="3D85C6"/>
                </a:solidFill>
                <a:latin typeface="Verdana"/>
                <a:ea typeface="Verdana"/>
                <a:cs typeface="Verdana"/>
                <a:sym typeface="Verdana"/>
              </a:rPr>
              <a:t>&lt;%@page 	contentType="text/html"</a:t>
            </a:r>
          </a:p>
          <a:p>
            <a:pPr marL="22860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solidFill>
                  <a:srgbClr val="3D85C6"/>
                </a:solidFill>
                <a:latin typeface="Verdana"/>
                <a:ea typeface="Verdana"/>
                <a:cs typeface="Verdana"/>
                <a:sym typeface="Verdana"/>
              </a:rPr>
              <a:t>pageEncoding="UTF-8" </a:t>
            </a:r>
          </a:p>
          <a:p>
            <a:pPr marL="22860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solidFill>
                  <a:srgbClr val="3D85C6"/>
                </a:solidFill>
                <a:latin typeface="Verdana"/>
                <a:ea typeface="Verdana"/>
                <a:cs typeface="Verdana"/>
                <a:sym typeface="Verdana"/>
              </a:rPr>
              <a:t>session="false"</a:t>
            </a:r>
          </a:p>
          <a:p>
            <a:pPr marL="22860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nl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trimDirectiveWhitespaces = “true”</a:t>
            </a:r>
          </a:p>
          <a:p>
            <a:pPr marL="45720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nl" sz="1800">
                <a:solidFill>
                  <a:srgbClr val="3D85C6"/>
                </a:solidFill>
                <a:latin typeface="Verdana"/>
                <a:ea typeface="Verdana"/>
                <a:cs typeface="Verdana"/>
                <a:sym typeface="Verdana"/>
              </a:rPr>
              <a:t>%&gt;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Microsoft Office PowerPoint</Application>
  <PresentationFormat>Diavoorstelling (16:9)</PresentationFormat>
  <Paragraphs>188</Paragraphs>
  <Slides>28</Slides>
  <Notes>28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28</vt:i4>
      </vt:variant>
    </vt:vector>
  </HeadingPairs>
  <TitlesOfParts>
    <vt:vector size="32" baseType="lpstr">
      <vt:lpstr>Arial</vt:lpstr>
      <vt:lpstr>Courier New</vt:lpstr>
      <vt:lpstr>Verdana</vt:lpstr>
      <vt:lpstr>simple-light</vt:lpstr>
      <vt:lpstr>JSP &amp; Servlets</vt:lpstr>
      <vt:lpstr>PowerPoint-presentatie</vt:lpstr>
      <vt:lpstr>  JSTL</vt:lpstr>
      <vt:lpstr>  Downloaden</vt:lpstr>
      <vt:lpstr>  http://jstl.java.net</vt:lpstr>
      <vt:lpstr>  Importeren van de jar bestanden</vt:lpstr>
      <vt:lpstr>  URI associeren met een prefix</vt:lpstr>
      <vt:lpstr>  URI associeren met een prefix</vt:lpstr>
      <vt:lpstr>  Tag names en tag URI’s</vt:lpstr>
      <vt:lpstr> JSTL Tag Libraries</vt:lpstr>
      <vt:lpstr>PowerPoint-presentatie</vt:lpstr>
      <vt:lpstr>  JSTL Core</vt:lpstr>
      <vt:lpstr>  &lt;c:url&gt;</vt:lpstr>
      <vt:lpstr>  &lt;c:import&gt;</vt:lpstr>
      <vt:lpstr>  &lt;c:forEach&gt;</vt:lpstr>
      <vt:lpstr>  Itereren zonder verzameling</vt:lpstr>
      <vt:lpstr>  &lt;c:forEach varstatus=”status”&gt;</vt:lpstr>
      <vt:lpstr>  &lt;c:forEach varstatus=”status”&gt;</vt:lpstr>
      <vt:lpstr>PowerPoint-presentatie</vt:lpstr>
      <vt:lpstr>  oefening op &lt;c:forEach&gt;</vt:lpstr>
      <vt:lpstr>PowerPoint-presentatie</vt:lpstr>
      <vt:lpstr>  &lt;c:if&gt;</vt:lpstr>
      <vt:lpstr>  &lt;c:choose&gt;</vt:lpstr>
      <vt:lpstr>PowerPoint-presentatie</vt:lpstr>
      <vt:lpstr>  oefening op </vt:lpstr>
      <vt:lpstr>  &lt;c:out&gt;</vt:lpstr>
      <vt:lpstr>  &lt;c:set&gt;</vt:lpstr>
      <vt:lpstr>  Opmerking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JSP &amp; Servlets</dc:title>
  <dc:creator>Van Gijsel Kenneth</dc:creator>
  <cp:lastModifiedBy>Van Gijsel Kenneth</cp:lastModifiedBy>
  <cp:revision>1</cp:revision>
  <dcterms:modified xsi:type="dcterms:W3CDTF">2017-10-27T06:58:02Z</dcterms:modified>
</cp:coreProperties>
</file>