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  <p:sldMasterId id="2147483805" r:id="rId2"/>
  </p:sldMasterIdLst>
  <p:notesMasterIdLst>
    <p:notesMasterId r:id="rId54"/>
  </p:notesMasterIdLst>
  <p:sldIdLst>
    <p:sldId id="387" r:id="rId3"/>
    <p:sldId id="262" r:id="rId4"/>
    <p:sldId id="289" r:id="rId5"/>
    <p:sldId id="298" r:id="rId6"/>
    <p:sldId id="337" r:id="rId7"/>
    <p:sldId id="338" r:id="rId8"/>
    <p:sldId id="339" r:id="rId9"/>
    <p:sldId id="340" r:id="rId10"/>
    <p:sldId id="342" r:id="rId11"/>
    <p:sldId id="343" r:id="rId12"/>
    <p:sldId id="344" r:id="rId13"/>
    <p:sldId id="345" r:id="rId14"/>
    <p:sldId id="341" r:id="rId15"/>
    <p:sldId id="374" r:id="rId16"/>
    <p:sldId id="346" r:id="rId17"/>
    <p:sldId id="347" r:id="rId18"/>
    <p:sldId id="384" r:id="rId19"/>
    <p:sldId id="385" r:id="rId20"/>
    <p:sldId id="349" r:id="rId21"/>
    <p:sldId id="350" r:id="rId22"/>
    <p:sldId id="382" r:id="rId23"/>
    <p:sldId id="383" r:id="rId24"/>
    <p:sldId id="325" r:id="rId25"/>
    <p:sldId id="351" r:id="rId26"/>
    <p:sldId id="352" r:id="rId27"/>
    <p:sldId id="354" r:id="rId28"/>
    <p:sldId id="375" r:id="rId29"/>
    <p:sldId id="353" r:id="rId30"/>
    <p:sldId id="388" r:id="rId31"/>
    <p:sldId id="389" r:id="rId32"/>
    <p:sldId id="356" r:id="rId33"/>
    <p:sldId id="390" r:id="rId34"/>
    <p:sldId id="360" r:id="rId35"/>
    <p:sldId id="370" r:id="rId36"/>
    <p:sldId id="362" r:id="rId37"/>
    <p:sldId id="363" r:id="rId38"/>
    <p:sldId id="364" r:id="rId39"/>
    <p:sldId id="365" r:id="rId40"/>
    <p:sldId id="366" r:id="rId41"/>
    <p:sldId id="367" r:id="rId42"/>
    <p:sldId id="371" r:id="rId43"/>
    <p:sldId id="372" r:id="rId44"/>
    <p:sldId id="373" r:id="rId45"/>
    <p:sldId id="395" r:id="rId46"/>
    <p:sldId id="396" r:id="rId47"/>
    <p:sldId id="303" r:id="rId48"/>
    <p:sldId id="391" r:id="rId49"/>
    <p:sldId id="392" r:id="rId50"/>
    <p:sldId id="393" r:id="rId51"/>
    <p:sldId id="394" r:id="rId52"/>
    <p:sldId id="380" r:id="rId53"/>
  </p:sldIdLst>
  <p:sldSz cx="12188825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8" autoAdjust="0"/>
    <p:restoredTop sz="76801" autoAdjust="0"/>
  </p:normalViewPr>
  <p:slideViewPr>
    <p:cSldViewPr>
      <p:cViewPr varScale="1">
        <p:scale>
          <a:sx n="66" d="100"/>
          <a:sy n="66" d="100"/>
        </p:scale>
        <p:origin x="1327" y="4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0390-2D39-4A19-9B61-23BDF7C42FDD}" type="datetimeFigureOut">
              <a:rPr lang="en-GB" smtClean="0"/>
              <a:pPr/>
              <a:t>02/10/2017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50584-EF7A-4D7E-9B0E-D08D0A8FF8CE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75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5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77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7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546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848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7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DEMO:</a:t>
            </a:r>
          </a:p>
          <a:p>
            <a:r>
              <a:rPr lang="en-US" dirty="0" smtClean="0"/>
              <a:t>.lists{ </a:t>
            </a:r>
          </a:p>
          <a:p>
            <a:r>
              <a:rPr lang="en-US" dirty="0" smtClean="0"/>
              <a:t>	font-size:50px;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err="1" smtClean="0"/>
              <a:t>ul.lists</a:t>
            </a:r>
            <a:r>
              <a:rPr lang="en-US" dirty="0" smtClean="0"/>
              <a:t> 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list-style-type:square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font-size:10px;</a:t>
            </a:r>
          </a:p>
          <a:p>
            <a:r>
              <a:rPr lang="en-US" dirty="0" smtClean="0"/>
              <a:t>}</a:t>
            </a:r>
          </a:p>
          <a:p>
            <a:endParaRPr lang="nl-BE" dirty="0" smtClean="0"/>
          </a:p>
          <a:p>
            <a:r>
              <a:rPr lang="nl-BE" dirty="0" smtClean="0"/>
              <a:t>OVERSCHRIJVEN!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883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77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DEMO:</a:t>
            </a:r>
          </a:p>
          <a:p>
            <a:r>
              <a:rPr lang="nl-BE" dirty="0" smtClean="0"/>
              <a:t>.menu li </a:t>
            </a:r>
            <a:r>
              <a:rPr lang="nl-BE" dirty="0" err="1" smtClean="0"/>
              <a:t>ul</a:t>
            </a:r>
            <a:r>
              <a:rPr lang="nl-BE" dirty="0" smtClean="0"/>
              <a:t> a</a:t>
            </a:r>
          </a:p>
          <a:p>
            <a:r>
              <a:rPr lang="nl-BE" dirty="0" smtClean="0"/>
              <a:t>{</a:t>
            </a:r>
          </a:p>
          <a:p>
            <a:r>
              <a:rPr lang="nl-BE" dirty="0" smtClean="0"/>
              <a:t>	</a:t>
            </a:r>
            <a:r>
              <a:rPr lang="nl-BE" dirty="0" err="1" smtClean="0"/>
              <a:t>display:block</a:t>
            </a:r>
            <a:r>
              <a:rPr lang="nl-BE" dirty="0" smtClean="0"/>
              <a:t>;</a:t>
            </a:r>
          </a:p>
          <a:p>
            <a:r>
              <a:rPr lang="nl-BE" dirty="0" smtClean="0"/>
              <a:t>	height:35px;</a:t>
            </a:r>
          </a:p>
          <a:p>
            <a:r>
              <a:rPr lang="nl-BE" dirty="0" smtClean="0"/>
              <a:t>	font-size:12px;</a:t>
            </a:r>
          </a:p>
          <a:p>
            <a:r>
              <a:rPr lang="nl-BE" dirty="0" smtClean="0"/>
              <a:t>	</a:t>
            </a:r>
            <a:r>
              <a:rPr lang="nl-BE" dirty="0" err="1" smtClean="0"/>
              <a:t>font-style:normal</a:t>
            </a:r>
            <a:r>
              <a:rPr lang="nl-BE" dirty="0" smtClean="0"/>
              <a:t>;</a:t>
            </a:r>
          </a:p>
          <a:p>
            <a:r>
              <a:rPr lang="nl-BE" dirty="0" smtClean="0"/>
              <a:t>	margin:0px;</a:t>
            </a:r>
          </a:p>
          <a:p>
            <a:r>
              <a:rPr lang="nl-BE" dirty="0" smtClean="0"/>
              <a:t>	padding:0px 10px 0px 15px;</a:t>
            </a:r>
          </a:p>
          <a:p>
            <a:r>
              <a:rPr lang="nl-BE" dirty="0" smtClean="0"/>
              <a:t>	</a:t>
            </a:r>
            <a:r>
              <a:rPr lang="nl-BE" dirty="0" err="1" smtClean="0"/>
              <a:t>text-align:left</a:t>
            </a:r>
            <a:r>
              <a:rPr lang="nl-BE" dirty="0" smtClean="0"/>
              <a:t>;</a:t>
            </a:r>
          </a:p>
          <a:p>
            <a:r>
              <a:rPr lang="nl-BE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503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 smtClean="0"/>
              <a:t>Subscript</a:t>
            </a:r>
            <a:r>
              <a:rPr lang="nl-BE" dirty="0" smtClean="0"/>
              <a:t> en superscript.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80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877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220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850584-EF7A-4D7E-9B0E-D08D0A8FF8CE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03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1773238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presentation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4350" y="4113213"/>
            <a:ext cx="11135290" cy="2124076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Speaker Name</a:t>
            </a:r>
          </a:p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Speaker Title, Company</a:t>
            </a:r>
          </a:p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Contact Information</a:t>
            </a:r>
          </a:p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0" y="6309320"/>
            <a:ext cx="12188825" cy="563859"/>
            <a:chOff x="0" y="6309320"/>
            <a:chExt cx="12188825" cy="563859"/>
          </a:xfrm>
        </p:grpSpPr>
        <p:sp>
          <p:nvSpPr>
            <p:cNvPr id="2" name="Rectangle 1"/>
            <p:cNvSpPr/>
            <p:nvPr userDrawn="1"/>
          </p:nvSpPr>
          <p:spPr bwMode="auto">
            <a:xfrm flipV="1">
              <a:off x="0" y="6309320"/>
              <a:ext cx="12188825" cy="54868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GB" spc="-50" dirty="0" err="1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26" name="Picture 2" descr="C:\Users\mohamed\Desktop\IntecMailSignatureFooter.jpg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48" y="6309320"/>
              <a:ext cx="3168352" cy="56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62486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2.58385E-6 L 1.175 -2.58385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75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875E-6 4.05505E-6 L 1.17617 4.05505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8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35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0 -2.58385E-6 L 1.175 -2.58385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58750" y="0"/>
                    </p:animMotion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35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1.875E-6 4.05505E-6 L 1.17617 4.05505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58802" y="0"/>
                    </p:animMotion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11" name="Content Placeholder 12"/>
          <p:cNvSpPr>
            <a:spLocks noGrp="1"/>
          </p:cNvSpPr>
          <p:nvPr>
            <p:ph sz="quarter" idx="10" hasCustomPrompt="1"/>
          </p:nvPr>
        </p:nvSpPr>
        <p:spPr>
          <a:xfrm>
            <a:off x="514348" y="1773238"/>
            <a:ext cx="8928101" cy="4359275"/>
          </a:xfrm>
        </p:spPr>
        <p:txBody>
          <a:bodyPr/>
          <a:lstStyle>
            <a:lvl1pPr marL="0" indent="0">
              <a:buNone/>
              <a:tabLst>
                <a:tab pos="7604125" algn="l"/>
              </a:tabLst>
              <a:defRPr sz="4000" baseline="0"/>
            </a:lvl1pPr>
            <a:lvl2pPr marL="0" indent="0">
              <a:buNone/>
              <a:tabLst>
                <a:tab pos="7604125" algn="l"/>
              </a:tabLst>
              <a:defRPr sz="2000">
                <a:latin typeface="+mn-lt"/>
              </a:defRPr>
            </a:lvl2pPr>
            <a:lvl3pPr marL="460375" indent="-230188">
              <a:tabLst>
                <a:tab pos="7604125" algn="l"/>
              </a:tabLst>
              <a:defRPr sz="2000" baseline="0">
                <a:latin typeface="+mn-lt"/>
              </a:defRPr>
            </a:lvl3pPr>
          </a:lstStyle>
          <a:p>
            <a:pPr lvl="0"/>
            <a:r>
              <a:rPr lang="en-US" dirty="0" smtClean="0"/>
              <a:t>Topic	xx</a:t>
            </a:r>
          </a:p>
          <a:p>
            <a:pPr lvl="1"/>
            <a:r>
              <a:rPr lang="en-US" dirty="0" smtClean="0"/>
              <a:t>Subtopic	xx</a:t>
            </a:r>
          </a:p>
          <a:p>
            <a:pPr lvl="2"/>
            <a:r>
              <a:rPr lang="en-US" dirty="0" smtClean="0"/>
              <a:t>Subtopic Info	xx</a:t>
            </a: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9550400" y="1773238"/>
            <a:ext cx="2124075" cy="2125662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075" name="Picture 3" descr="C:\Temp\Agend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876" y="2224212"/>
            <a:ext cx="641849" cy="127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9659380" y="3545584"/>
            <a:ext cx="7886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  <a:latin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1677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0409E-6 -1.11111E-6 L 3.70409E-6 -0.0539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7296E-6 2.96296E-6 L -4.17296E-6 0.04722 " pathEditMode="relative" rAng="0" ptsTypes="AA">
                                      <p:cBhvr>
                                        <p:cTn id="10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Purp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799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5076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Greenx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528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Orangex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12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Pi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065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131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11160126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02416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550805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7" name="Content Placeholder 12"/>
          <p:cNvSpPr>
            <a:spLocks noGrp="1"/>
          </p:cNvSpPr>
          <p:nvPr>
            <p:ph sz="quarter" idx="11"/>
          </p:nvPr>
        </p:nvSpPr>
        <p:spPr>
          <a:xfrm>
            <a:off x="6159302" y="1773238"/>
            <a:ext cx="550805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375997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84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50401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8375" y="400486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544052" y="4000280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8266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50401" y="1772817"/>
            <a:ext cx="2121408" cy="4359696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8375" y="400486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0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2499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6"/>
            <a:ext cx="2121408" cy="4348871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50401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544052" y="4000280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0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2499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7"/>
            <a:ext cx="4356100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8375" y="400486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9544052" y="4000280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0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2499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9550401" y="1772817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318374" y="4004866"/>
            <a:ext cx="4349751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0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413350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318375" y="1772816"/>
            <a:ext cx="4356100" cy="4359697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6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6696075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68612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o Block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085014" y="177281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317040" y="177281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5085014" y="4004865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310691" y="4000279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24967" y="1777492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56993" y="1777492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4967" y="4009541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850644" y="4004955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553067" y="1772816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546718" y="4000279"/>
            <a:ext cx="2121408" cy="212140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59314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0643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blackWhite">
          <a:xfrm>
            <a:off x="520700" y="6298298"/>
            <a:ext cx="11173090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914099" eaLnBrk="0" hangingPunct="0"/>
            <a:r>
              <a:rPr lang="en-US" sz="7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cs typeface="Arial" charset="0"/>
              </a:rPr>
              <a:t>© </a:t>
            </a:r>
            <a:r>
              <a:rPr lang="en-US" sz="70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cs typeface="Arial" charset="0"/>
              </a:rPr>
              <a:t>2012 INTECBRUSSEL</a:t>
            </a:r>
            <a:endParaRPr lang="en-US" sz="7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cs typeface="Arial" charset="0"/>
            </a:endParaRPr>
          </a:p>
        </p:txBody>
      </p:sp>
      <p:pic>
        <p:nvPicPr>
          <p:cNvPr id="2053" name="Picture 5" descr="E:\Sjablonen\Logo_intec-outline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662" y="2081212"/>
            <a:ext cx="43815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6685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4135" y="5644120"/>
            <a:ext cx="9574695" cy="36830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None/>
              <a:defRPr sz="20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14135" y="5970087"/>
            <a:ext cx="9574695" cy="623688"/>
          </a:xfrm>
          <a:prstGeom prst="rect">
            <a:avLst/>
          </a:prstGeom>
        </p:spPr>
        <p:txBody>
          <a:bodyPr vert="horz" lIns="0">
            <a:normAutofit/>
          </a:bodyPr>
          <a:lstStyle>
            <a:lvl1pPr>
              <a:lnSpc>
                <a:spcPct val="70000"/>
              </a:lnSpc>
              <a:buFontTx/>
              <a:buNone/>
              <a:defRPr kumimoji="0" lang="en-US" sz="1600" b="0" i="0" u="none" strike="noStrike" kern="1200" cap="none" spc="-7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Tx/>
              <a:buNone/>
              <a:tabLst/>
              <a:defRPr/>
            </a:pPr>
            <a:r>
              <a:rPr lang="en-US" dirty="0" smtClean="0"/>
              <a:t>Click to edit presenter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Tx/>
              <a:buNone/>
              <a:tabLst/>
              <a:defRPr/>
            </a:pPr>
            <a:r>
              <a:rPr lang="en-US" dirty="0" smtClean="0"/>
              <a:t>and date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4"/>
            <a:ext cx="12203941" cy="68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03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-796" y="4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-14957" y="4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179"/>
              <a:endParaRPr lang="en-US" sz="1900">
                <a:solidFill>
                  <a:prstClr val="white"/>
                </a:solidFill>
              </a:endParaRPr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14" y="3581405"/>
            <a:ext cx="12188822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4" y="6324604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7" y="6324604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7" y="6461704"/>
            <a:ext cx="1813766" cy="12857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8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spc="-40" baseline="0"/>
            </a:lvl1pPr>
            <a:lvl2pPr marL="451093" indent="0">
              <a:buNone/>
              <a:defRPr sz="1200"/>
            </a:lvl2pPr>
            <a:lvl3pPr marL="902179" indent="0">
              <a:buNone/>
              <a:defRPr sz="1200"/>
            </a:lvl3pPr>
            <a:lvl4pPr marL="1353251" indent="0">
              <a:buNone/>
              <a:defRPr sz="900"/>
            </a:lvl4pPr>
            <a:lvl5pPr marL="1804351" indent="0">
              <a:buNone/>
              <a:defRPr sz="900"/>
            </a:lvl5pPr>
            <a:lvl6pPr marL="2255435" indent="0">
              <a:buNone/>
              <a:defRPr sz="900"/>
            </a:lvl6pPr>
            <a:lvl7pPr marL="2706512" indent="0">
              <a:buNone/>
              <a:defRPr sz="900"/>
            </a:lvl7pPr>
            <a:lvl8pPr marL="3157602" indent="0">
              <a:buNone/>
              <a:defRPr sz="900"/>
            </a:lvl8pPr>
            <a:lvl9pPr marL="360869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796" y="4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953" y="4"/>
            <a:ext cx="12203939" cy="6858000"/>
            <a:chOff x="-11340" y="0"/>
            <a:chExt cx="9155340" cy="6858000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179"/>
              <a:endParaRPr lang="en-US" sz="1900">
                <a:solidFill>
                  <a:prstClr val="white"/>
                </a:solidFill>
              </a:endParaRPr>
            </a:p>
          </p:txBody>
        </p:sp>
        <p:grpSp>
          <p:nvGrpSpPr>
            <p:cNvPr id="18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19" name="Rectangle 18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Rectangle 26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8" name="Rectangle 27"/>
          <p:cNvSpPr/>
          <p:nvPr userDrawn="1"/>
        </p:nvSpPr>
        <p:spPr>
          <a:xfrm>
            <a:off x="14" y="3581405"/>
            <a:ext cx="12188822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320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-796" y="4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-14957" y="4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179"/>
              <a:endParaRPr lang="en-US" sz="1900">
                <a:solidFill>
                  <a:prstClr val="white"/>
                </a:solidFill>
              </a:endParaRPr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1" name="Rectangle 20"/>
          <p:cNvSpPr/>
          <p:nvPr/>
        </p:nvSpPr>
        <p:spPr>
          <a:xfrm>
            <a:off x="14" y="3581405"/>
            <a:ext cx="12188822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4" y="6324604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7" y="6324604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7" y="6461704"/>
            <a:ext cx="1813766" cy="12857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8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 spc="-40" baseline="0"/>
            </a:lvl1pPr>
            <a:lvl2pPr marL="451093" indent="0">
              <a:buNone/>
              <a:defRPr sz="1200"/>
            </a:lvl2pPr>
            <a:lvl3pPr marL="902179" indent="0">
              <a:buNone/>
              <a:defRPr sz="1200"/>
            </a:lvl3pPr>
            <a:lvl4pPr marL="1353251" indent="0">
              <a:buNone/>
              <a:defRPr sz="900"/>
            </a:lvl4pPr>
            <a:lvl5pPr marL="1804351" indent="0">
              <a:buNone/>
              <a:defRPr sz="900"/>
            </a:lvl5pPr>
            <a:lvl6pPr marL="2255435" indent="0">
              <a:buNone/>
              <a:defRPr sz="900"/>
            </a:lvl6pPr>
            <a:lvl7pPr marL="2706512" indent="0">
              <a:buNone/>
              <a:defRPr sz="900"/>
            </a:lvl7pPr>
            <a:lvl8pPr marL="3157602" indent="0">
              <a:buNone/>
              <a:defRPr sz="900"/>
            </a:lvl8pPr>
            <a:lvl9pPr marL="360869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796" y="4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953" y="4"/>
            <a:ext cx="12203939" cy="6858000"/>
            <a:chOff x="-11340" y="0"/>
            <a:chExt cx="9155340" cy="6858000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02179"/>
              <a:endParaRPr lang="en-US" sz="1900">
                <a:solidFill>
                  <a:prstClr val="white"/>
                </a:solidFill>
              </a:endParaRPr>
            </a:p>
          </p:txBody>
        </p:sp>
        <p:grpSp>
          <p:nvGrpSpPr>
            <p:cNvPr id="18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19" name="Rectangle 18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Rectangle 26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02179"/>
                <a:endParaRPr lang="en-US" sz="19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8" name="Rectangle 27"/>
          <p:cNvSpPr/>
          <p:nvPr userDrawn="1"/>
        </p:nvSpPr>
        <p:spPr>
          <a:xfrm>
            <a:off x="14" y="3581405"/>
            <a:ext cx="12188822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40" tIns="45118" rIns="90240" bIns="45118" rtlCol="0" anchor="ctr"/>
          <a:lstStyle/>
          <a:p>
            <a:pPr algn="ctr" defTabSz="902179"/>
            <a:endParaRPr lang="en-US" sz="1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0421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82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7966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579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7561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7508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264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6163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7934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-796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 userDrawn="1"/>
        </p:nvGrpSpPr>
        <p:grpSpPr>
          <a:xfrm>
            <a:off x="-15115" y="0"/>
            <a:ext cx="12203939" cy="6858000"/>
            <a:chOff x="-11340" y="0"/>
            <a:chExt cx="9155340" cy="6858000"/>
          </a:xfrm>
        </p:grpSpPr>
        <p:sp>
          <p:nvSpPr>
            <p:cNvPr id="23" name="Rectangle 22"/>
            <p:cNvSpPr/>
            <p:nvPr userDrawn="1"/>
          </p:nvSpPr>
          <p:spPr>
            <a:xfrm>
              <a:off x="0" y="0"/>
              <a:ext cx="9144000" cy="6858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alpha val="0"/>
                  </a:schemeClr>
                </a:gs>
                <a:gs pos="82000">
                  <a:schemeClr val="bg1">
                    <a:lumMod val="95000"/>
                    <a:alpha val="50000"/>
                  </a:schemeClr>
                </a:gs>
                <a:gs pos="100000">
                  <a:srgbClr val="E2E2E2">
                    <a:alpha val="5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8"/>
            <p:cNvGrpSpPr/>
            <p:nvPr userDrawn="1"/>
          </p:nvGrpSpPr>
          <p:grpSpPr>
            <a:xfrm>
              <a:off x="-11340" y="0"/>
              <a:ext cx="9155340" cy="6858000"/>
              <a:chOff x="-11340" y="0"/>
              <a:chExt cx="9155340" cy="6858000"/>
            </a:xfrm>
          </p:grpSpPr>
          <p:sp>
            <p:nvSpPr>
              <p:cNvPr id="25" name="Rectangle 24"/>
              <p:cNvSpPr/>
              <p:nvPr userDrawn="1"/>
            </p:nvSpPr>
            <p:spPr>
              <a:xfrm>
                <a:off x="-11340" y="0"/>
                <a:ext cx="9144001" cy="6858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alpha val="0"/>
                    </a:schemeClr>
                  </a:gs>
                  <a:gs pos="82000">
                    <a:schemeClr val="bg1">
                      <a:lumMod val="95000"/>
                      <a:alpha val="50000"/>
                    </a:schemeClr>
                  </a:gs>
                  <a:gs pos="100000">
                    <a:srgbClr val="E2E2E2">
                      <a:alpha val="5000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/>
              <p:nvPr userDrawn="1"/>
            </p:nvSpPr>
            <p:spPr>
              <a:xfrm>
                <a:off x="0" y="3581400"/>
                <a:ext cx="9144000" cy="32766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Rectangle 20"/>
          <p:cNvSpPr/>
          <p:nvPr userDrawn="1"/>
        </p:nvSpPr>
        <p:spPr>
          <a:xfrm>
            <a:off x="1" y="3581400"/>
            <a:ext cx="12188823" cy="32766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206791" y="6324600"/>
            <a:ext cx="1221110" cy="152400"/>
          </a:xfrm>
          <a:prstGeom prst="rect">
            <a:avLst/>
          </a:prstGeom>
        </p:spPr>
        <p:txBody>
          <a:bodyPr/>
          <a:lstStyle/>
          <a:p>
            <a:fld id="{3EBBC3FC-7A95-446A-8885-5602F35F550A}" type="datetime1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614135" y="6324600"/>
            <a:ext cx="516287" cy="152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PAGE </a:t>
            </a:r>
            <a:fld id="{711B4CA8-52BE-46B1-A536-58CE1A3FAF74}" type="slidenum">
              <a:rPr lang="en-US" smtClean="0"/>
              <a:pPr algn="l"/>
              <a:t>‹nr.›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>
          <a:xfrm>
            <a:off x="614135" y="6461650"/>
            <a:ext cx="1813766" cy="12857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mtClean="0"/>
              <a:t>MICROSOFT CONFIDENTIAL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5943600"/>
            <a:ext cx="9547913" cy="304800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spc="-4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63969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596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93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7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688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594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881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9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471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smtClean="0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13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445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4DC1-5C8F-684A-B134-B781C736984A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00F7-6662-0B4A-B721-A41C99585E2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852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>
            <a:off x="609441" y="274637"/>
            <a:ext cx="10969943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nl-NL" smtClean="0"/>
              <a:t>Klik om de stijl te bewerken</a:t>
            </a:r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10969943" cy="49675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 lvl="0"/>
            <a:r>
              <a:rPr lang="nl-NL" smtClean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042637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1829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7296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11" name="Content Placeholder 12"/>
          <p:cNvSpPr>
            <a:spLocks noGrp="1"/>
          </p:cNvSpPr>
          <p:nvPr>
            <p:ph sz="quarter" idx="10" hasCustomPrompt="1"/>
          </p:nvPr>
        </p:nvSpPr>
        <p:spPr>
          <a:xfrm>
            <a:off x="514348" y="1773238"/>
            <a:ext cx="8928101" cy="4359275"/>
          </a:xfrm>
        </p:spPr>
        <p:txBody>
          <a:bodyPr/>
          <a:lstStyle>
            <a:lvl1pPr marL="0" indent="0">
              <a:buNone/>
              <a:tabLst>
                <a:tab pos="7604125" algn="l"/>
              </a:tabLst>
              <a:defRPr sz="4000" baseline="0"/>
            </a:lvl1pPr>
            <a:lvl2pPr marL="0" indent="0">
              <a:buNone/>
              <a:tabLst>
                <a:tab pos="7604125" algn="l"/>
              </a:tabLst>
              <a:defRPr sz="2000">
                <a:latin typeface="+mn-lt"/>
              </a:defRPr>
            </a:lvl2pPr>
            <a:lvl3pPr marL="460375" indent="-230188">
              <a:tabLst>
                <a:tab pos="7604125" algn="l"/>
              </a:tabLst>
              <a:defRPr sz="2000" baseline="0">
                <a:latin typeface="+mn-lt"/>
              </a:defRPr>
            </a:lvl3pPr>
          </a:lstStyle>
          <a:p>
            <a:pPr lvl="0"/>
            <a:r>
              <a:rPr lang="en-US" dirty="0" smtClean="0"/>
              <a:t>Topic	xx</a:t>
            </a:r>
          </a:p>
          <a:p>
            <a:pPr lvl="1"/>
            <a:r>
              <a:rPr lang="en-US" dirty="0" smtClean="0"/>
              <a:t>Subtopic	xx</a:t>
            </a:r>
          </a:p>
          <a:p>
            <a:pPr lvl="2"/>
            <a:r>
              <a:rPr lang="en-US" dirty="0" smtClean="0"/>
              <a:t>Subtopic Info	xx</a:t>
            </a: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9550400" y="1773238"/>
            <a:ext cx="2124075" cy="2125662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075" name="Picture 3" descr="C:\Temp\Agend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876" y="2224212"/>
            <a:ext cx="641849" cy="127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9659380" y="3545584"/>
            <a:ext cx="7886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800" dirty="0" smtClean="0">
                <a:solidFill>
                  <a:schemeClr val="bg1"/>
                </a:solidFill>
                <a:latin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851617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0409E-6 -1.11111E-6 L 3.70409E-6 -0.0539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7296E-6 2.96296E-6 L -4.17296E-6 0.04722 " pathEditMode="relative" rAng="0" ptsTypes="AA">
                                      <p:cBhvr>
                                        <p:cTn id="10" dur="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Title Purp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14351" y="2784866"/>
            <a:ext cx="11163088" cy="1218795"/>
          </a:xfrm>
        </p:spPr>
        <p:txBody>
          <a:bodyPr/>
          <a:lstStyle>
            <a:lvl1pPr marL="0" indent="0">
              <a:buNone/>
              <a:defRPr lang="en-US" sz="8800" i="0" kern="1200" spc="-100" baseline="0" dirty="0" smtClean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Click to edit chapter title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15727" y="1773238"/>
            <a:ext cx="11135290" cy="443198"/>
          </a:xfrm>
        </p:spPr>
        <p:txBody>
          <a:bodyPr/>
          <a:lstStyle>
            <a:lvl1pPr marL="0" indent="0">
              <a:buNone/>
              <a:defRPr lang="en-US" sz="3200" kern="1200" spc="-100" baseline="0" dirty="0">
                <a:solidFill>
                  <a:schemeClr val="bg1"/>
                </a:solidFill>
                <a:latin typeface="Segoe UI Light" pitchFamily="34" charset="0"/>
                <a:ea typeface="+mn-ea"/>
                <a:cs typeface="+mn-cs"/>
              </a:defRPr>
            </a:lvl1pPr>
          </a:lstStyle>
          <a:p>
            <a:pPr marL="0" lvl="0" indent="0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90000"/>
              <a:buFont typeface="Arial" pitchFamily="34" charset="0"/>
              <a:buNone/>
            </a:pPr>
            <a:r>
              <a:rPr lang="en-US" dirty="0" smtClean="0"/>
              <a:t>Chapter Title x/y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461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1.02244E-6 L 1.23528 1.02244E-6 " pathEditMode="relative" rAng="0" ptsTypes="AA">
                                      <p:cBhvr>
                                        <p:cTn id="8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5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-3.96021E-6 L 1.23424 -3.96021E-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750"/>
                  </p:stCondLst>
                  <p:childTnLst>
                    <p:animMotion origin="layout" path="M 0 -3.96021E-6 L 1.23424 -3.96021E-6 " pathEditMode="relative" rAng="0" ptsTypes="AA">
                      <p:cBhvr>
                        <p:cTn dur="750" spd="-100000" fill="hold"/>
                        <p:tgtEl>
                          <p:spTgt spid="6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06" y="0"/>
                    </p:animMotion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1">
        <p:tmplLst>
          <p:tmpl>
            <p:tnLst>
              <p:par>
                <p:cTn presetID="63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1.66667E-6 1.02244E-6 L 1.23528 1.02244E-6 " pathEditMode="relative" rAng="0" ptsTypes="AA">
                      <p:cBhvr>
                        <p:cTn dur="750" spd="-100000" fill="hold"/>
                        <p:tgtEl>
                          <p:spTgt spid="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61758" y="0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12"/>
          <p:cNvSpPr>
            <a:spLocks noGrp="1"/>
          </p:cNvSpPr>
          <p:nvPr>
            <p:ph sz="quarter" idx="10"/>
          </p:nvPr>
        </p:nvSpPr>
        <p:spPr>
          <a:xfrm>
            <a:off x="514349" y="1773238"/>
            <a:ext cx="11160126" cy="4359275"/>
          </a:xfrm>
        </p:spPr>
        <p:txBody>
          <a:bodyPr/>
          <a:lstStyle>
            <a:lvl1pPr marL="0" indent="0">
              <a:buNone/>
              <a:defRPr sz="4000"/>
            </a:lvl1pPr>
            <a:lvl2pPr marL="0" indent="0">
              <a:buNone/>
              <a:tabLst/>
              <a:defRPr sz="2000">
                <a:latin typeface="+mn-lt"/>
              </a:defRPr>
            </a:lvl2pPr>
            <a:lvl3pPr marL="460375" indent="-230188">
              <a:defRPr sz="2000">
                <a:latin typeface="+mn-lt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30325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228600"/>
            <a:ext cx="11153776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767339"/>
            <a:ext cx="11153775" cy="446994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978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79" r:id="rId2"/>
    <p:sldLayoutId id="2147483778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36" r:id="rId9"/>
    <p:sldLayoutId id="2147483777" r:id="rId10"/>
    <p:sldLayoutId id="2147483739" r:id="rId11"/>
    <p:sldLayoutId id="2147483780" r:id="rId12"/>
    <p:sldLayoutId id="2147483782" r:id="rId13"/>
    <p:sldLayoutId id="2147483783" r:id="rId14"/>
    <p:sldLayoutId id="2147483784" r:id="rId15"/>
    <p:sldLayoutId id="2147483785" r:id="rId16"/>
    <p:sldLayoutId id="2147483781" r:id="rId17"/>
    <p:sldLayoutId id="2147483786" r:id="rId18"/>
    <p:sldLayoutId id="2147483740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5400" b="0" kern="1200" cap="none" spc="-100" baseline="0" dirty="0" smtClean="0">
          <a:ln w="3175">
            <a:noFill/>
          </a:ln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65000"/>
                  <a:lumOff val="35000"/>
                </a:schemeClr>
              </a:gs>
            </a:gsLst>
            <a:lin ang="5400000" scaled="0"/>
            <a:tileRect/>
          </a:gradFill>
          <a:effectLst/>
          <a:latin typeface="Segoe UI Light" pitchFamily="34" charset="0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SzPct val="90000"/>
        <a:buFont typeface="Wingdings" pitchFamily="2" charset="2"/>
        <a:buNone/>
        <a:defRPr sz="4000" kern="1200"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75000"/>
                  <a:lumOff val="2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atin typeface="+mj-lt"/>
          <a:ea typeface="+mn-ea"/>
          <a:cs typeface="+mn-cs"/>
        </a:defRPr>
      </a:lvl1pPr>
      <a:lvl2pPr marL="0" indent="0" algn="l" defTabSz="914363" rtl="0" eaLnBrk="1" latinLnBrk="0" hangingPunct="1">
        <a:lnSpc>
          <a:spcPct val="90000"/>
        </a:lnSpc>
        <a:spcBef>
          <a:spcPct val="20000"/>
        </a:spcBef>
        <a:buSzPct val="90000"/>
        <a:buFont typeface="Wingdings" pitchFamily="2" charset="2"/>
        <a:buNone/>
        <a:tabLst>
          <a:tab pos="630238" algn="l"/>
        </a:tabLst>
        <a:defRPr sz="2000" kern="1200"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75000"/>
                  <a:lumOff val="2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atin typeface="+mn-lt"/>
          <a:ea typeface="+mn-ea"/>
          <a:cs typeface="+mn-cs"/>
        </a:defRPr>
      </a:lvl2pPr>
      <a:lvl3pPr marL="346075" indent="-230188" algn="l" defTabSz="914363" rtl="0" eaLnBrk="1" latinLnBrk="0" hangingPunct="1">
        <a:lnSpc>
          <a:spcPct val="90000"/>
        </a:lnSpc>
        <a:spcBef>
          <a:spcPct val="20000"/>
        </a:spcBef>
        <a:buSzPct val="90000"/>
        <a:buFont typeface="Wingdings" pitchFamily="2" charset="2"/>
        <a:buChar char="§"/>
        <a:defRPr sz="2000" kern="1200"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75000"/>
                  <a:lumOff val="2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atin typeface="+mn-lt"/>
          <a:ea typeface="+mn-ea"/>
          <a:cs typeface="+mn-cs"/>
        </a:defRPr>
      </a:lvl3pPr>
      <a:lvl4pPr marL="1482725" indent="-223838" algn="l" defTabSz="914363" rtl="0" eaLnBrk="1" latinLnBrk="0" hangingPunct="1">
        <a:lnSpc>
          <a:spcPct val="90000"/>
        </a:lnSpc>
        <a:spcBef>
          <a:spcPct val="20000"/>
        </a:spcBef>
        <a:buSzPct val="90000"/>
        <a:buFont typeface="Wingdings" pitchFamily="2" charset="2"/>
        <a:buChar char="§"/>
        <a:tabLst>
          <a:tab pos="914400" algn="l"/>
        </a:tabLst>
        <a:defRPr sz="2000" kern="1200"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75000"/>
                  <a:lumOff val="2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atin typeface="+mn-lt"/>
          <a:ea typeface="+mn-ea"/>
          <a:cs typeface="+mn-cs"/>
        </a:defRPr>
      </a:lvl4pPr>
      <a:lvl5pPr marL="1712913" indent="-230188" algn="l" defTabSz="914363" rtl="0" eaLnBrk="1" latinLnBrk="0" hangingPunct="1">
        <a:lnSpc>
          <a:spcPct val="90000"/>
        </a:lnSpc>
        <a:spcBef>
          <a:spcPct val="20000"/>
        </a:spcBef>
        <a:buSzPct val="90000"/>
        <a:buFont typeface="Wingdings" pitchFamily="2" charset="2"/>
        <a:buChar char="§"/>
        <a:defRPr sz="2000" kern="1200"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86000">
                <a:schemeClr val="tx1">
                  <a:lumMod val="75000"/>
                  <a:lumOff val="2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AK3-inside-def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mtClean="0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fld id="{A9794DC1-5C8F-684A-B134-B781C736984A}" type="datetimeFigureOut">
              <a:rPr lang="en-US" smtClean="0"/>
              <a:pPr/>
              <a:t>10/2/2017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yriad Pro Semibold"/>
              </a:defRPr>
            </a:lvl1pPr>
          </a:lstStyle>
          <a:p>
            <a:fld id="{51CC00F7-6662-0B4A-B721-A41C99585E2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2" r:id="rId15"/>
    <p:sldLayoutId id="2147483823" r:id="rId16"/>
    <p:sldLayoutId id="2147483824" r:id="rId17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yriad Pro Semibol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 Semibold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 Semibold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 Semibold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 Semibold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 Semibold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hslpicker.com/#9e931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jsfiddle.net/Mta2b/" TargetMode="Externa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FtByxWjfLY" TargetMode="External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google.com/p/html5resetcss/downloads/list" TargetMode="External"/><Relationship Id="rId2" Type="http://schemas.openxmlformats.org/officeDocument/2006/relationships/hyperlink" Target="http://necolas.github.io/normalize.css/" TargetMode="External"/><Relationship Id="rId1" Type="http://schemas.openxmlformats.org/officeDocument/2006/relationships/slideLayout" Target="../slideLayouts/slideLayout3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smtClean="0"/>
              <a:t>Java Developer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 smtClean="0"/>
              <a:t>CSS inleiding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8990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Vandaag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4348" y="1447800"/>
            <a:ext cx="8928101" cy="5257800"/>
          </a:xfrm>
        </p:spPr>
        <p:txBody>
          <a:bodyPr>
            <a:normAutofit/>
          </a:bodyPr>
          <a:lstStyle/>
          <a:p>
            <a:r>
              <a:rPr lang="nl-BE" dirty="0" smtClean="0"/>
              <a:t>Inleiding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Theorie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Soorten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Syntax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Class / </a:t>
            </a:r>
            <a:r>
              <a:rPr lang="nl-BE" dirty="0" err="1" smtClean="0">
                <a:latin typeface="Myriad Pro Semibold"/>
              </a:rPr>
              <a:t>id</a:t>
            </a:r>
            <a:endParaRPr lang="nl-BE" dirty="0" smtClean="0">
              <a:latin typeface="Myriad Pro Semibold"/>
            </a:endParaRPr>
          </a:p>
          <a:p>
            <a:pPr lvl="1">
              <a:buFontTx/>
              <a:buChar char="-"/>
            </a:pPr>
            <a:endParaRPr lang="nl-BE" dirty="0" smtClean="0">
              <a:latin typeface="Myriad Pro Semibold"/>
            </a:endParaRPr>
          </a:p>
          <a:p>
            <a:r>
              <a:rPr lang="nl-BE" dirty="0" smtClean="0"/>
              <a:t>CSS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Intro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Stijlen</a:t>
            </a:r>
          </a:p>
          <a:p>
            <a:pPr lvl="1">
              <a:buFontTx/>
              <a:buChar char="-"/>
            </a:pPr>
            <a:r>
              <a:rPr lang="nl-BE" dirty="0" smtClean="0">
                <a:latin typeface="Myriad Pro Semibold"/>
              </a:rPr>
              <a:t>Advanced</a:t>
            </a:r>
          </a:p>
          <a:p>
            <a:pPr lvl="1">
              <a:buFontTx/>
              <a:buChar char="-"/>
            </a:pPr>
            <a:endParaRPr lang="nl-BE" dirty="0" smtClean="0"/>
          </a:p>
        </p:txBody>
      </p:sp>
    </p:spTree>
    <p:extLst>
      <p:ext uri="{BB962C8B-B14F-4D97-AF65-F5344CB8AC3E}">
        <p14:creationId xmlns:p14="http://schemas.microsoft.com/office/powerpoint/2010/main" val="378235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Inleiding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 smtClean="0"/>
              <a:t>CSS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89529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CSS: theorie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nl-NL" dirty="0" smtClean="0"/>
              <a:t>CSS= </a:t>
            </a:r>
            <a:r>
              <a:rPr lang="nl-NL" b="1" dirty="0" err="1" smtClean="0"/>
              <a:t>C</a:t>
            </a:r>
            <a:r>
              <a:rPr lang="nl-NL" dirty="0" err="1" smtClean="0"/>
              <a:t>ascading</a:t>
            </a:r>
            <a:r>
              <a:rPr lang="nl-NL" dirty="0" smtClean="0"/>
              <a:t> </a:t>
            </a:r>
            <a:r>
              <a:rPr lang="nl-NL" b="1" dirty="0" smtClean="0"/>
              <a:t>S</a:t>
            </a:r>
            <a:r>
              <a:rPr lang="nl-NL" dirty="0" smtClean="0"/>
              <a:t>tyle </a:t>
            </a:r>
            <a:r>
              <a:rPr lang="nl-NL" b="1" dirty="0" smtClean="0"/>
              <a:t>S</a:t>
            </a:r>
            <a:r>
              <a:rPr lang="nl-NL" dirty="0" smtClean="0"/>
              <a:t>heet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dirty="0" smtClean="0"/>
              <a:t>Styles </a:t>
            </a:r>
            <a:r>
              <a:rPr lang="en-US" dirty="0" err="1" smtClean="0"/>
              <a:t>om</a:t>
            </a:r>
            <a:r>
              <a:rPr lang="en-US" dirty="0" smtClean="0"/>
              <a:t> html </a:t>
            </a:r>
            <a:r>
              <a:rPr lang="en-US" dirty="0" err="1" smtClean="0"/>
              <a:t>elementen</a:t>
            </a:r>
            <a:r>
              <a:rPr lang="en-US" dirty="0" smtClean="0"/>
              <a:t> 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tonen</a:t>
            </a:r>
            <a:endParaRPr lang="en-US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dirty="0" err="1" smtClean="0"/>
              <a:t>Opmaak</a:t>
            </a:r>
            <a:r>
              <a:rPr lang="en-US" dirty="0" smtClean="0"/>
              <a:t> van de </a:t>
            </a:r>
            <a:r>
              <a:rPr lang="en-US" dirty="0" err="1" smtClean="0"/>
              <a:t>webpagina</a:t>
            </a:r>
            <a:endParaRPr lang="en-US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dirty="0" err="1" smtClean="0"/>
              <a:t>Kan</a:t>
            </a:r>
            <a:r>
              <a:rPr lang="en-US" dirty="0" smtClean="0"/>
              <a:t> </a:t>
            </a:r>
            <a:r>
              <a:rPr lang="en-US" dirty="0" err="1" smtClean="0"/>
              <a:t>veel</a:t>
            </a:r>
            <a:r>
              <a:rPr lang="en-US" dirty="0" smtClean="0"/>
              <a:t> </a:t>
            </a:r>
            <a:r>
              <a:rPr lang="en-US" dirty="0" err="1" smtClean="0"/>
              <a:t>werk</a:t>
            </a:r>
            <a:r>
              <a:rPr lang="en-US" dirty="0" smtClean="0"/>
              <a:t> </a:t>
            </a:r>
            <a:r>
              <a:rPr lang="en-US" dirty="0" err="1" smtClean="0"/>
              <a:t>besparen</a:t>
            </a:r>
            <a:endParaRPr lang="en-US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dirty="0" err="1" smtClean="0"/>
              <a:t>Externe</a:t>
            </a:r>
            <a:r>
              <a:rPr lang="en-US" dirty="0" smtClean="0"/>
              <a:t> sheets </a:t>
            </a:r>
            <a:r>
              <a:rPr lang="en-US" dirty="0" err="1" smtClean="0"/>
              <a:t>zijn</a:t>
            </a:r>
            <a:r>
              <a:rPr lang="en-US" dirty="0" smtClean="0"/>
              <a:t> </a:t>
            </a:r>
            <a:r>
              <a:rPr lang="en-US" dirty="0" err="1" smtClean="0"/>
              <a:t>gestockeerd</a:t>
            </a:r>
            <a:r>
              <a:rPr lang="en-US" dirty="0" smtClean="0"/>
              <a:t> in CSS </a:t>
            </a:r>
            <a:r>
              <a:rPr lang="en-US" dirty="0" err="1" smtClean="0"/>
              <a:t>bestanden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28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External</a:t>
            </a:r>
            <a:r>
              <a:rPr lang="nl-BE" dirty="0" smtClean="0"/>
              <a:t> </a:t>
            </a:r>
            <a:r>
              <a:rPr lang="nl-BE" dirty="0" err="1" smtClean="0"/>
              <a:t>stylesheet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nl-NL" dirty="0"/>
              <a:t>De CSS-code staat in een apart CSS-document </a:t>
            </a:r>
          </a:p>
          <a:p>
            <a:r>
              <a:rPr lang="nl-NL" dirty="0"/>
              <a:t/>
            </a:r>
            <a:br>
              <a:rPr lang="nl-NL" dirty="0"/>
            </a:br>
            <a:r>
              <a:rPr lang="nl-NL" dirty="0"/>
              <a:t>Deze methode is de beste en zullen we dus meestal gebruiken! Je kunt zo een eenvormige opmaak voor je hele website voorzien.</a:t>
            </a:r>
            <a:br>
              <a:rPr lang="nl-NL" dirty="0"/>
            </a:br>
            <a:endParaRPr lang="nl-NL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6228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Embedded </a:t>
            </a:r>
            <a:r>
              <a:rPr lang="en-US" b="1" dirty="0" smtClean="0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BE" dirty="0" smtClean="0"/>
              <a:t>In elke webpagina wordt in het &lt;</a:t>
            </a:r>
            <a:r>
              <a:rPr lang="nl-BE" dirty="0" err="1" smtClean="0"/>
              <a:t>head</a:t>
            </a:r>
            <a:r>
              <a:rPr lang="nl-BE" dirty="0" smtClean="0"/>
              <a:t>&gt; gedeelte de volledige </a:t>
            </a:r>
            <a:r>
              <a:rPr lang="nl-BE" dirty="0" err="1" smtClean="0"/>
              <a:t>css</a:t>
            </a:r>
            <a:r>
              <a:rPr lang="nl-BE" dirty="0" smtClean="0"/>
              <a:t> opmaak voorzien. </a:t>
            </a:r>
          </a:p>
          <a:p>
            <a:endParaRPr lang="nl-BE" dirty="0"/>
          </a:p>
          <a:p>
            <a:pPr marL="571500" indent="-571500">
              <a:buFont typeface="Wingdings"/>
              <a:buChar char="à"/>
            </a:pPr>
            <a:r>
              <a:rPr lang="nl-BE" dirty="0" smtClean="0">
                <a:sym typeface="Wingdings" pitchFamily="2" charset="2"/>
              </a:rPr>
              <a:t>Opmaak geldt voor de hele betrokken pagina.</a:t>
            </a:r>
          </a:p>
          <a:p>
            <a:r>
              <a:rPr lang="nl-BE" dirty="0">
                <a:sym typeface="Wingdings" pitchFamily="2" charset="2"/>
              </a:rPr>
              <a:t>&lt;</a:t>
            </a:r>
            <a:r>
              <a:rPr lang="nl-BE" dirty="0" err="1">
                <a:sym typeface="Wingdings" pitchFamily="2" charset="2"/>
              </a:rPr>
              <a:t>style</a:t>
            </a:r>
            <a:r>
              <a:rPr lang="nl-BE" dirty="0">
                <a:sym typeface="Wingdings" pitchFamily="2" charset="2"/>
              </a:rPr>
              <a:t> type="</a:t>
            </a:r>
            <a:r>
              <a:rPr lang="nl-BE" dirty="0" err="1">
                <a:sym typeface="Wingdings" pitchFamily="2" charset="2"/>
              </a:rPr>
              <a:t>text</a:t>
            </a:r>
            <a:r>
              <a:rPr lang="nl-BE" dirty="0">
                <a:sym typeface="Wingdings" pitchFamily="2" charset="2"/>
              </a:rPr>
              <a:t>/</a:t>
            </a:r>
            <a:r>
              <a:rPr lang="nl-BE" dirty="0" err="1">
                <a:sym typeface="Wingdings" pitchFamily="2" charset="2"/>
              </a:rPr>
              <a:t>css</a:t>
            </a:r>
            <a:r>
              <a:rPr lang="nl-BE" dirty="0">
                <a:sym typeface="Wingdings" pitchFamily="2" charset="2"/>
              </a:rPr>
              <a:t>"&gt;</a:t>
            </a:r>
          </a:p>
          <a:p>
            <a:r>
              <a:rPr lang="nl-BE" dirty="0" smtClean="0">
                <a:sym typeface="Wingdings" pitchFamily="2" charset="2"/>
              </a:rPr>
              <a:t>#Stijl1 </a:t>
            </a:r>
            <a:r>
              <a:rPr lang="nl-BE" dirty="0">
                <a:sym typeface="Wingdings" pitchFamily="2" charset="2"/>
              </a:rPr>
              <a:t>{</a:t>
            </a:r>
          </a:p>
          <a:p>
            <a:r>
              <a:rPr lang="nl-BE" dirty="0" smtClean="0">
                <a:sym typeface="Wingdings" pitchFamily="2" charset="2"/>
              </a:rPr>
              <a:t>}</a:t>
            </a:r>
          </a:p>
          <a:p>
            <a:r>
              <a:rPr lang="nl-BE" dirty="0" smtClean="0">
                <a:sym typeface="Wingdings" pitchFamily="2" charset="2"/>
              </a:rPr>
              <a:t>…</a:t>
            </a:r>
            <a:endParaRPr lang="nl-BE" dirty="0">
              <a:sym typeface="Wingdings" pitchFamily="2" charset="2"/>
            </a:endParaRPr>
          </a:p>
          <a:p>
            <a:r>
              <a:rPr lang="nl-BE" dirty="0">
                <a:sym typeface="Wingdings" pitchFamily="2" charset="2"/>
              </a:rPr>
              <a:t>&lt;/</a:t>
            </a:r>
            <a:r>
              <a:rPr lang="nl-BE" dirty="0" err="1">
                <a:sym typeface="Wingdings" pitchFamily="2" charset="2"/>
              </a:rPr>
              <a:t>style</a:t>
            </a:r>
            <a:r>
              <a:rPr lang="nl-BE" dirty="0">
                <a:sym typeface="Wingdings" pitchFamily="2" charset="2"/>
              </a:rPr>
              <a:t>&gt;</a:t>
            </a:r>
          </a:p>
          <a:p>
            <a:pPr marL="571500" indent="-571500">
              <a:buFont typeface="Wingdings"/>
              <a:buChar char="à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97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Inline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nl-NL" dirty="0"/>
              <a:t>&lt;p </a:t>
            </a:r>
            <a:r>
              <a:rPr lang="nl-NL" dirty="0" err="1"/>
              <a:t>style</a:t>
            </a:r>
            <a:r>
              <a:rPr lang="nl-NL" dirty="0"/>
              <a:t>="background:#036"&gt; kleurtje :) &lt;/p</a:t>
            </a:r>
            <a:r>
              <a:rPr lang="nl-NL" dirty="0" smtClean="0"/>
              <a:t>&gt;</a:t>
            </a:r>
          </a:p>
          <a:p>
            <a:endParaRPr lang="nl-NL" dirty="0"/>
          </a:p>
          <a:p>
            <a:r>
              <a:rPr lang="nl-NL" dirty="0" smtClean="0"/>
              <a:t>Als attribuut de stijlen meegeven aan de verschillende elementen.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859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CSS Syntax</a:t>
            </a:r>
          </a:p>
          <a:p>
            <a:pPr marL="742950" indent="-742950">
              <a:buFont typeface="+mj-lt"/>
              <a:buAutoNum type="arabicPeriod"/>
            </a:pPr>
            <a:r>
              <a:rPr lang="nl-BE" dirty="0" err="1" smtClean="0"/>
              <a:t>Selector</a:t>
            </a:r>
            <a:r>
              <a:rPr lang="nl-BE" dirty="0" smtClean="0"/>
              <a:t>: HTML element dat je wilt stijlen</a:t>
            </a:r>
          </a:p>
          <a:p>
            <a:pPr marL="742950" indent="-742950">
              <a:buFont typeface="+mj-lt"/>
              <a:buAutoNum type="arabicPeriod"/>
            </a:pPr>
            <a:r>
              <a:rPr lang="nl-BE" dirty="0" err="1" smtClean="0"/>
              <a:t>Declarations</a:t>
            </a:r>
            <a:r>
              <a:rPr lang="nl-BE" dirty="0" smtClean="0"/>
              <a:t>: 1 of meerdere</a:t>
            </a:r>
          </a:p>
          <a:p>
            <a:pPr marL="1203325" lvl="2" indent="-742950">
              <a:buFont typeface="Arial" pitchFamily="34" charset="0"/>
              <a:buChar char="•"/>
            </a:pPr>
            <a:r>
              <a:rPr lang="nl-BE" sz="2800" dirty="0" smtClean="0"/>
              <a:t>Property</a:t>
            </a:r>
          </a:p>
          <a:p>
            <a:pPr marL="1203325" lvl="2" indent="-742950">
              <a:buFont typeface="Arial" pitchFamily="34" charset="0"/>
              <a:buChar char="•"/>
            </a:pPr>
            <a:r>
              <a:rPr lang="nl-BE" sz="2800" dirty="0"/>
              <a:t>V</a:t>
            </a:r>
            <a:r>
              <a:rPr lang="nl-BE" sz="2800" dirty="0" smtClean="0"/>
              <a:t>alue</a:t>
            </a:r>
            <a:endParaRPr lang="en-US" sz="2800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875212" y="4267200"/>
            <a:ext cx="6542525" cy="14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09730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Class attribuut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767071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lvl="1"/>
            <a:r>
              <a:rPr lang="nl-BE" sz="2600" dirty="0"/>
              <a:t>M</a:t>
            </a:r>
            <a:r>
              <a:rPr lang="nl-BE" sz="2600" dirty="0" smtClean="0"/>
              <a:t>eer </a:t>
            </a:r>
            <a:r>
              <a:rPr lang="nl-BE" sz="2600" dirty="0"/>
              <a:t>dan 1 stijl voor dezelfde HTML tag</a:t>
            </a:r>
          </a:p>
          <a:p>
            <a:r>
              <a:rPr lang="nl-BE" dirty="0"/>
              <a:t>Voorbeeld: 2 verschillende paragraaf elementen</a:t>
            </a:r>
          </a:p>
          <a:p>
            <a:pPr lvl="1"/>
            <a:r>
              <a:rPr lang="nl-BE" dirty="0"/>
              <a:t>CSS	           </a:t>
            </a:r>
          </a:p>
          <a:p>
            <a:pPr lvl="2"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p.right </a:t>
            </a:r>
          </a:p>
          <a:p>
            <a:pPr lvl="2"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{</a:t>
            </a:r>
          </a:p>
          <a:p>
            <a:pPr lvl="2"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	text-align: right</a:t>
            </a:r>
          </a:p>
          <a:p>
            <a:pPr lvl="2"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lvl="2">
              <a:buFontTx/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p.center </a:t>
            </a:r>
          </a:p>
          <a:p>
            <a:pPr lvl="2">
              <a:buFontTx/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{</a:t>
            </a:r>
          </a:p>
          <a:p>
            <a:pPr lvl="2">
              <a:buFontTx/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	text-align: center</a:t>
            </a:r>
          </a:p>
          <a:p>
            <a:pPr lvl="2">
              <a:buFontTx/>
              <a:buNone/>
            </a:pPr>
            <a:r>
              <a:rPr lang="nl-BE" dirty="0">
                <a:latin typeface="Consolas" pitchFamily="49" charset="0"/>
                <a:cs typeface="Consolas" pitchFamily="49" charset="0"/>
              </a:rPr>
              <a:t>	</a:t>
            </a:r>
            <a:r>
              <a:rPr lang="nl-BE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>
              <a:buFontTx/>
              <a:buNone/>
            </a:pPr>
            <a:endParaRPr lang="nl-BE" dirty="0" smtClean="0"/>
          </a:p>
          <a:p>
            <a:pPr lvl="1"/>
            <a:r>
              <a:rPr lang="nl-BE" dirty="0">
                <a:sym typeface="Symbol" pitchFamily="18" charset="2"/>
              </a:rPr>
              <a:t>HTML 	</a:t>
            </a:r>
          </a:p>
          <a:p>
            <a:pPr lvl="2">
              <a:buNone/>
            </a:pPr>
            <a:r>
              <a:rPr lang="nl-BE" dirty="0">
                <a:sym typeface="Symbol" pitchFamily="18" charset="2"/>
              </a:rPr>
              <a:t>	</a:t>
            </a:r>
            <a:r>
              <a:rPr lang="nl-BE" dirty="0">
                <a:latin typeface="Consolas" pitchFamily="49" charset="0"/>
                <a:cs typeface="Consolas" pitchFamily="49" charset="0"/>
                <a:sym typeface="Symbol" pitchFamily="18" charset="2"/>
              </a:rPr>
              <a:t>&lt;p class=“right”&gt;allign right&lt;/p&gt;</a:t>
            </a:r>
          </a:p>
          <a:p>
            <a:pPr lvl="2">
              <a:buFont typeface="Symbol" pitchFamily="18" charset="2"/>
              <a:buNone/>
            </a:pPr>
            <a:r>
              <a:rPr lang="nl-BE" dirty="0">
                <a:latin typeface="Consolas" pitchFamily="49" charset="0"/>
                <a:cs typeface="Consolas" pitchFamily="49" charset="0"/>
                <a:sym typeface="Symbol" pitchFamily="18" charset="2"/>
              </a:rPr>
              <a:t>	&lt;p class=“center”&gt;centered&lt;/p&gt;</a:t>
            </a:r>
          </a:p>
          <a:p>
            <a:pPr lvl="1">
              <a:buFontTx/>
              <a:buNone/>
            </a:pPr>
            <a:endParaRPr lang="nl-BE" dirty="0"/>
          </a:p>
          <a:p>
            <a:pPr lvl="1">
              <a:buFontTx/>
              <a:buNone/>
            </a:pPr>
            <a:endParaRPr lang="nl-BE" dirty="0"/>
          </a:p>
          <a:p>
            <a:pPr lvl="1">
              <a:buFontTx/>
              <a:buNone/>
            </a:pPr>
            <a:endParaRPr lang="nl-B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2615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- Syntax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nl-BE" dirty="0"/>
              <a:t>Een stijl kan op meerdere elementen toegepast worden</a:t>
            </a:r>
          </a:p>
          <a:p>
            <a:pPr marL="1252537" lvl="3" indent="0">
              <a:buNone/>
            </a:pPr>
            <a:r>
              <a:rPr lang="nl-BE" sz="2400" dirty="0" smtClean="0"/>
              <a:t>CSS</a:t>
            </a:r>
          </a:p>
          <a:p>
            <a:pPr marL="1489075" lvl="4" indent="0">
              <a:buNone/>
            </a:pPr>
            <a:r>
              <a:rPr lang="nl-BE" sz="2400" dirty="0" smtClean="0">
                <a:latin typeface="Consolas" pitchFamily="49" charset="0"/>
                <a:cs typeface="Consolas" pitchFamily="49" charset="0"/>
              </a:rPr>
              <a:t>	.</a:t>
            </a: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center </a:t>
            </a:r>
          </a:p>
          <a:p>
            <a:pPr marL="1489075" lvl="4" indent="0">
              <a:buNone/>
            </a:pP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	{</a:t>
            </a:r>
          </a:p>
          <a:p>
            <a:pPr marL="1489075" lvl="4" indent="0">
              <a:buNone/>
            </a:pP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		</a:t>
            </a:r>
            <a:r>
              <a:rPr lang="nl-BE" sz="2400" dirty="0" err="1" smtClean="0">
                <a:latin typeface="Consolas" pitchFamily="49" charset="0"/>
                <a:cs typeface="Consolas" pitchFamily="49" charset="0"/>
                <a:sym typeface="Symbol" pitchFamily="18" charset="2"/>
              </a:rPr>
              <a:t>text-align</a:t>
            </a: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: center</a:t>
            </a:r>
          </a:p>
          <a:p>
            <a:pPr marL="1489075" lvl="4" indent="0">
              <a:buNone/>
            </a:pP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	}</a:t>
            </a:r>
          </a:p>
          <a:p>
            <a:pPr marL="1252537" lvl="3" indent="0">
              <a:buNone/>
            </a:pPr>
            <a:r>
              <a:rPr lang="nl-BE" sz="2400" dirty="0" smtClean="0">
                <a:sym typeface="Symbol" pitchFamily="18" charset="2"/>
              </a:rPr>
              <a:t>HTML	</a:t>
            </a:r>
          </a:p>
          <a:p>
            <a:pPr marL="1489075" lvl="4" indent="0">
              <a:buNone/>
            </a:pPr>
            <a:r>
              <a:rPr lang="nl-BE" sz="2400" dirty="0" smtClean="0">
                <a:sym typeface="Symbol" pitchFamily="18" charset="2"/>
              </a:rPr>
              <a:t>	</a:t>
            </a: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&lt;h1 class=“center”&gt;Center h&lt;/h1&gt;</a:t>
            </a:r>
          </a:p>
          <a:p>
            <a:pPr marL="1489075" lvl="4" indent="0">
              <a:buNone/>
            </a:pPr>
            <a:r>
              <a:rPr lang="nl-BE" sz="24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	&lt;p class=“center”&gt;Center p &lt;/p&gt;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429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Id</a:t>
            </a:r>
            <a:r>
              <a:rPr lang="nl-BE" dirty="0" smtClean="0"/>
              <a:t> attribuut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nl-BE" dirty="0" smtClean="0"/>
              <a:t>Is hetzelfde als het class attribuut, alleen is het UNIEK, voor één specifiek element. </a:t>
            </a:r>
            <a:endParaRPr lang="nl-BE" dirty="0"/>
          </a:p>
          <a:p>
            <a:pPr marL="1258887" lvl="3" indent="0">
              <a:buNone/>
            </a:pPr>
            <a:r>
              <a:rPr lang="nl-BE" sz="2800" dirty="0"/>
              <a:t>CSS</a:t>
            </a:r>
          </a:p>
          <a:p>
            <a:pPr marL="1258887" lvl="3" indent="0">
              <a:buNone/>
            </a:pPr>
            <a:r>
              <a:rPr lang="nl-BE" sz="2800" dirty="0"/>
              <a:t>	</a:t>
            </a:r>
            <a:r>
              <a:rPr lang="nl-BE" sz="2800" dirty="0">
                <a:latin typeface="Consolas" pitchFamily="49" charset="0"/>
                <a:cs typeface="Consolas" pitchFamily="49" charset="0"/>
              </a:rPr>
              <a:t>#answer</a:t>
            </a:r>
          </a:p>
          <a:p>
            <a:pPr marL="1258887" lvl="3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{</a:t>
            </a:r>
          </a:p>
          <a:p>
            <a:pPr marL="1258887" lvl="3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	font-style: italic</a:t>
            </a:r>
          </a:p>
          <a:p>
            <a:pPr marL="1258887" lvl="3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258887" lvl="3" indent="0">
              <a:buNone/>
            </a:pPr>
            <a:r>
              <a:rPr lang="nl-BE" sz="2800" dirty="0">
                <a:sym typeface="Symbol" pitchFamily="18" charset="2"/>
              </a:rPr>
              <a:t>HTML	</a:t>
            </a:r>
          </a:p>
          <a:p>
            <a:pPr marL="1258887" lvl="3" indent="0">
              <a:buNone/>
            </a:pPr>
            <a:r>
              <a:rPr lang="nl-BE" sz="2800" dirty="0">
                <a:sym typeface="Symbol" pitchFamily="18" charset="2"/>
              </a:rPr>
              <a:t>	</a:t>
            </a:r>
            <a:r>
              <a:rPr lang="nl-BE" sz="2800" dirty="0">
                <a:latin typeface="Consolas" pitchFamily="49" charset="0"/>
                <a:cs typeface="Consolas" pitchFamily="49" charset="0"/>
                <a:sym typeface="Symbol" pitchFamily="18" charset="2"/>
              </a:rPr>
              <a:t>&lt;p id=“answer”&gt;The answer&lt;/p&gt;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281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Id</a:t>
            </a:r>
            <a:r>
              <a:rPr lang="nl-BE" dirty="0" smtClean="0"/>
              <a:t> attribuut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/>
          <a:lstStyle/>
          <a:p>
            <a:r>
              <a:rPr lang="nl-BE" dirty="0"/>
              <a:t>Een id voor een specifiek element</a:t>
            </a:r>
          </a:p>
          <a:p>
            <a:pPr marL="1258887" lvl="3" indent="0">
              <a:buNone/>
            </a:pPr>
            <a:r>
              <a:rPr lang="nl-BE" sz="2800" dirty="0"/>
              <a:t>CSS</a:t>
            </a:r>
          </a:p>
          <a:p>
            <a:pPr marL="1482725" lvl="4" indent="0">
              <a:buNone/>
            </a:pPr>
            <a:r>
              <a:rPr lang="nl-BE" sz="2800" dirty="0"/>
              <a:t>	</a:t>
            </a:r>
            <a:r>
              <a:rPr lang="nl-BE" sz="2800" dirty="0">
                <a:latin typeface="Consolas" pitchFamily="49" charset="0"/>
                <a:cs typeface="Consolas" pitchFamily="49" charset="0"/>
                <a:sym typeface="Symbol" pitchFamily="18" charset="2"/>
              </a:rPr>
              <a:t>h1# </a:t>
            </a:r>
            <a:r>
              <a:rPr lang="nl-BE" sz="2800" dirty="0">
                <a:latin typeface="Consolas" pitchFamily="49" charset="0"/>
                <a:cs typeface="Consolas" pitchFamily="49" charset="0"/>
              </a:rPr>
              <a:t>answer</a:t>
            </a:r>
          </a:p>
          <a:p>
            <a:pPr marL="1482725" lvl="4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{</a:t>
            </a:r>
          </a:p>
          <a:p>
            <a:pPr marL="1482725" lvl="4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	font-style: italic</a:t>
            </a:r>
          </a:p>
          <a:p>
            <a:pPr marL="1482725" lvl="4" indent="0">
              <a:buNone/>
            </a:pPr>
            <a:r>
              <a:rPr lang="nl-BE" sz="28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pPr marL="1258887" lvl="3" indent="0">
              <a:buNone/>
            </a:pPr>
            <a:r>
              <a:rPr lang="nl-BE" sz="2800" dirty="0">
                <a:sym typeface="Symbol" pitchFamily="18" charset="2"/>
              </a:rPr>
              <a:t>HTML	</a:t>
            </a:r>
          </a:p>
          <a:p>
            <a:pPr marL="1258887" lvl="3" indent="0">
              <a:buNone/>
            </a:pPr>
            <a:r>
              <a:rPr lang="nl-BE" sz="2800" dirty="0">
                <a:sym typeface="Symbol" pitchFamily="18" charset="2"/>
              </a:rPr>
              <a:t>	</a:t>
            </a:r>
            <a:r>
              <a:rPr lang="nl-BE" sz="2800" dirty="0" smtClean="0">
                <a:sym typeface="Symbol" pitchFamily="18" charset="2"/>
              </a:rPr>
              <a:t>	</a:t>
            </a:r>
            <a:r>
              <a:rPr lang="nl-BE" sz="2800" dirty="0" smtClean="0">
                <a:latin typeface="Consolas" pitchFamily="49" charset="0"/>
                <a:cs typeface="Consolas" pitchFamily="49" charset="0"/>
                <a:sym typeface="Symbol" pitchFamily="18" charset="2"/>
              </a:rPr>
              <a:t>&lt;h1 id=“answer”&gt;The answer&lt;/p&gt;</a:t>
            </a:r>
            <a:endParaRPr lang="nl-BE" sz="2800" dirty="0">
              <a:latin typeface="Consolas" pitchFamily="49" charset="0"/>
              <a:cs typeface="Consolas" pitchFamily="49" charset="0"/>
              <a:sym typeface="Symbol" pitchFamily="18" charset="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0939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+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&lt;link </a:t>
            </a:r>
            <a:r>
              <a:rPr lang="en-US" b="1" dirty="0" err="1"/>
              <a:t>href</a:t>
            </a:r>
            <a:r>
              <a:rPr lang="en-US" b="1" dirty="0" smtClean="0"/>
              <a:t>=“</a:t>
            </a:r>
            <a:r>
              <a:rPr lang="en-US" b="1" dirty="0" err="1" smtClean="0"/>
              <a:t>css</a:t>
            </a:r>
            <a:r>
              <a:rPr lang="en-US" b="1" dirty="0" smtClean="0"/>
              <a:t>/style.css</a:t>
            </a:r>
            <a:r>
              <a:rPr lang="en-US" b="1" dirty="0"/>
              <a:t>" </a:t>
            </a:r>
            <a:r>
              <a:rPr lang="en-US" b="1" dirty="0" err="1"/>
              <a:t>rel</a:t>
            </a:r>
            <a:r>
              <a:rPr lang="en-US" b="1" dirty="0"/>
              <a:t>="</a:t>
            </a:r>
            <a:r>
              <a:rPr lang="en-US" b="1" dirty="0" err="1"/>
              <a:t>stylesheet</a:t>
            </a:r>
            <a:r>
              <a:rPr lang="en-US" b="1" dirty="0"/>
              <a:t>" type="</a:t>
            </a:r>
            <a:r>
              <a:rPr lang="en-US" b="1" dirty="0" smtClean="0"/>
              <a:t>text/</a:t>
            </a:r>
            <a:r>
              <a:rPr lang="en-US" b="1" dirty="0" err="1" smtClean="0"/>
              <a:t>css</a:t>
            </a:r>
            <a:r>
              <a:rPr lang="en-US" b="1" dirty="0"/>
              <a:t>" </a:t>
            </a:r>
            <a:r>
              <a:rPr lang="en-US" b="1" dirty="0" smtClean="0"/>
              <a:t>/&gt;</a:t>
            </a:r>
          </a:p>
          <a:p>
            <a:endParaRPr lang="nl-BE" b="1" dirty="0"/>
          </a:p>
          <a:p>
            <a:r>
              <a:rPr lang="nl-BE" dirty="0" smtClean="0"/>
              <a:t>Stylesheets in aparte map steken.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360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Stijlen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 smtClean="0"/>
              <a:t>CSS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92963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- attributen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nl-BE" sz="3200" dirty="0" err="1" smtClean="0">
                <a:latin typeface="+mn-lt"/>
              </a:rPr>
              <a:t>Text</a:t>
            </a:r>
            <a:endParaRPr lang="nl-BE" sz="3200" dirty="0" smtClean="0">
              <a:latin typeface="+mn-lt"/>
            </a:endParaRPr>
          </a:p>
          <a:p>
            <a:pPr lvl="1"/>
            <a:r>
              <a:rPr lang="nl-BE" sz="3200" dirty="0" smtClean="0"/>
              <a:t>Vb: text-align </a:t>
            </a:r>
            <a:r>
              <a:rPr lang="nl-BE" sz="3200" dirty="0"/>
              <a:t>: </a:t>
            </a:r>
            <a:r>
              <a:rPr lang="nl-BE" sz="3200" dirty="0" err="1" smtClean="0"/>
              <a:t>left</a:t>
            </a:r>
            <a:endParaRPr lang="nl-BE" sz="3200" dirty="0" smtClean="0"/>
          </a:p>
          <a:p>
            <a:pPr lvl="1"/>
            <a:endParaRPr lang="nl-BE" sz="3200" dirty="0" smtClean="0"/>
          </a:p>
          <a:p>
            <a:r>
              <a:rPr lang="nl-BE" sz="3200" dirty="0" smtClean="0">
                <a:latin typeface="+mn-lt"/>
              </a:rPr>
              <a:t>Font </a:t>
            </a:r>
          </a:p>
          <a:p>
            <a:pPr lvl="1"/>
            <a:r>
              <a:rPr lang="nl-BE" sz="3200" dirty="0" smtClean="0"/>
              <a:t>Vb: font-size: 16px</a:t>
            </a:r>
          </a:p>
          <a:p>
            <a:pPr lvl="1"/>
            <a:endParaRPr lang="nl-BE" sz="3200" dirty="0" smtClean="0"/>
          </a:p>
          <a:p>
            <a:r>
              <a:rPr lang="nl-BE" sz="3200" dirty="0" smtClean="0">
                <a:latin typeface="+mn-lt"/>
              </a:rPr>
              <a:t>Border</a:t>
            </a:r>
          </a:p>
          <a:p>
            <a:pPr lvl="1"/>
            <a:r>
              <a:rPr lang="nl-BE" sz="3200" dirty="0" smtClean="0"/>
              <a:t>Vb: border-style: solid</a:t>
            </a:r>
          </a:p>
          <a:p>
            <a:endParaRPr lang="nl-B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66056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CSS - attributen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nl-BE" sz="3200" dirty="0" err="1" smtClean="0">
                <a:latin typeface="+mn-lt"/>
              </a:rPr>
              <a:t>Margin</a:t>
            </a:r>
            <a:endParaRPr lang="nl-BE" sz="3200" dirty="0" smtClean="0">
              <a:latin typeface="+mn-lt"/>
            </a:endParaRPr>
          </a:p>
          <a:p>
            <a:pPr lvl="1"/>
            <a:r>
              <a:rPr lang="nl-BE" sz="3200" dirty="0" smtClean="0"/>
              <a:t>Vb: margin-top: 10px</a:t>
            </a:r>
          </a:p>
          <a:p>
            <a:pPr lvl="1"/>
            <a:endParaRPr lang="nl-BE" sz="3200" dirty="0" smtClean="0"/>
          </a:p>
          <a:p>
            <a:r>
              <a:rPr lang="nl-BE" sz="3200" dirty="0" smtClean="0">
                <a:latin typeface="+mn-lt"/>
              </a:rPr>
              <a:t>Padding</a:t>
            </a:r>
          </a:p>
          <a:p>
            <a:pPr lvl="1"/>
            <a:r>
              <a:rPr lang="nl-BE" sz="3200" dirty="0" smtClean="0"/>
              <a:t>Vb: padding: 3px 10px </a:t>
            </a:r>
            <a:r>
              <a:rPr lang="nl-BE" sz="3200" dirty="0" smtClean="0"/>
              <a:t>6px</a:t>
            </a:r>
            <a:r>
              <a:rPr lang="nl-BE" sz="3200" dirty="0" smtClean="0"/>
              <a:t> </a:t>
            </a:r>
            <a:r>
              <a:rPr lang="nl-BE" sz="3200" dirty="0" smtClean="0"/>
              <a:t>5px</a:t>
            </a:r>
          </a:p>
          <a:p>
            <a:pPr lvl="1"/>
            <a:endParaRPr lang="nl-BE" sz="3200" dirty="0" smtClean="0">
              <a:latin typeface="+mn-lt"/>
            </a:endParaRPr>
          </a:p>
          <a:p>
            <a:pPr lvl="1"/>
            <a:r>
              <a:rPr lang="nl-BE" sz="3200" dirty="0" smtClean="0">
                <a:latin typeface="+mn-lt"/>
              </a:rPr>
              <a:t>Background</a:t>
            </a:r>
          </a:p>
          <a:p>
            <a:pPr lvl="1"/>
            <a:r>
              <a:rPr lang="nl-BE" sz="3200" dirty="0" err="1" smtClean="0">
                <a:latin typeface="+mn-lt"/>
              </a:rPr>
              <a:t>Vb</a:t>
            </a:r>
            <a:r>
              <a:rPr lang="nl-BE" sz="3200" dirty="0" smtClean="0">
                <a:latin typeface="+mn-lt"/>
              </a:rPr>
              <a:t>: background-image: </a:t>
            </a:r>
            <a:r>
              <a:rPr lang="nl-BE" sz="3200" dirty="0" err="1" smtClean="0">
                <a:latin typeface="+mn-lt"/>
              </a:rPr>
              <a:t>url</a:t>
            </a:r>
            <a:r>
              <a:rPr lang="nl-BE" sz="3200" dirty="0" smtClean="0">
                <a:latin typeface="+mn-lt"/>
              </a:rPr>
              <a:t>(“images/bg.gif”) </a:t>
            </a:r>
          </a:p>
          <a:p>
            <a:pPr lvl="1"/>
            <a:endParaRPr lang="nl-BE" sz="3200" dirty="0"/>
          </a:p>
          <a:p>
            <a:pPr lvl="1"/>
            <a:r>
              <a:rPr lang="nl-BE" sz="3200" dirty="0" smtClean="0">
                <a:latin typeface="+mn-lt"/>
              </a:rPr>
              <a:t> </a:t>
            </a:r>
          </a:p>
          <a:p>
            <a:pPr lvl="1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801812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Colors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4349" y="1295400"/>
            <a:ext cx="11160126" cy="5334000"/>
          </a:xfrm>
        </p:spPr>
        <p:txBody>
          <a:bodyPr>
            <a:normAutofit fontScale="850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dirty="0" smtClean="0"/>
              <a:t>RGB-waarden: </a:t>
            </a:r>
            <a:r>
              <a:rPr lang="nl-NL" b="1" dirty="0" smtClean="0">
                <a:solidFill>
                  <a:schemeClr val="accent1"/>
                </a:solidFill>
              </a:rPr>
              <a:t>BV</a:t>
            </a:r>
            <a:r>
              <a:rPr lang="nl-NL" b="1" dirty="0">
                <a:solidFill>
                  <a:schemeClr val="accent1"/>
                </a:solidFill>
              </a:rPr>
              <a:t>: </a:t>
            </a:r>
            <a:r>
              <a:rPr lang="nl-NL" b="1" dirty="0" smtClean="0">
                <a:solidFill>
                  <a:schemeClr val="accent1"/>
                </a:solidFill>
              </a:rPr>
              <a:t>body{</a:t>
            </a:r>
            <a:r>
              <a:rPr lang="nl-NL" b="1" dirty="0" err="1" smtClean="0">
                <a:solidFill>
                  <a:schemeClr val="accent1"/>
                </a:solidFill>
              </a:rPr>
              <a:t>color</a:t>
            </a:r>
            <a:r>
              <a:rPr lang="nl-NL" b="1" dirty="0">
                <a:solidFill>
                  <a:schemeClr val="accent1"/>
                </a:solidFill>
              </a:rPr>
              <a:t>: </a:t>
            </a:r>
            <a:r>
              <a:rPr lang="nl-NL" b="1" dirty="0" err="1">
                <a:solidFill>
                  <a:schemeClr val="accent1"/>
                </a:solidFill>
              </a:rPr>
              <a:t>rgb</a:t>
            </a:r>
            <a:r>
              <a:rPr lang="nl-NL" b="1" dirty="0">
                <a:solidFill>
                  <a:schemeClr val="accent1"/>
                </a:solidFill>
              </a:rPr>
              <a:t>(100,100,90</a:t>
            </a:r>
            <a:r>
              <a:rPr lang="nl-NL" b="1" dirty="0" smtClean="0">
                <a:solidFill>
                  <a:schemeClr val="accent1"/>
                </a:solidFill>
              </a:rPr>
              <a:t>)}</a:t>
            </a:r>
            <a:endParaRPr lang="nl-NL" b="1" dirty="0">
              <a:solidFill>
                <a:schemeClr val="accent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dirty="0" smtClean="0"/>
              <a:t>HEX-codes:</a:t>
            </a:r>
            <a:r>
              <a:rPr lang="nl-NL" b="1" dirty="0" smtClean="0">
                <a:solidFill>
                  <a:schemeClr val="accent1"/>
                </a:solidFill>
              </a:rPr>
              <a:t>	BV</a:t>
            </a:r>
            <a:r>
              <a:rPr lang="nl-NL" b="1" dirty="0">
                <a:solidFill>
                  <a:schemeClr val="accent1"/>
                </a:solidFill>
              </a:rPr>
              <a:t>: body{</a:t>
            </a:r>
            <a:r>
              <a:rPr lang="nl-NL" b="1" dirty="0" err="1">
                <a:solidFill>
                  <a:schemeClr val="accent1"/>
                </a:solidFill>
              </a:rPr>
              <a:t>color</a:t>
            </a:r>
            <a:r>
              <a:rPr lang="nl-NL" b="1" dirty="0">
                <a:solidFill>
                  <a:schemeClr val="accent1"/>
                </a:solidFill>
              </a:rPr>
              <a:t>: </a:t>
            </a:r>
            <a:r>
              <a:rPr lang="nl-NL" b="1" dirty="0" smtClean="0">
                <a:solidFill>
                  <a:schemeClr val="accent1"/>
                </a:solidFill>
              </a:rPr>
              <a:t>#EE3E80}</a:t>
            </a:r>
            <a:endParaRPr lang="nl-NL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dirty="0" smtClean="0"/>
              <a:t>Kleurnamen: </a:t>
            </a:r>
            <a:r>
              <a:rPr lang="nl-NL" b="1" dirty="0" smtClean="0">
                <a:solidFill>
                  <a:schemeClr val="accent1"/>
                </a:solidFill>
              </a:rPr>
              <a:t>BV</a:t>
            </a:r>
            <a:r>
              <a:rPr lang="nl-NL" b="1" dirty="0">
                <a:solidFill>
                  <a:schemeClr val="accent1"/>
                </a:solidFill>
              </a:rPr>
              <a:t>: body{</a:t>
            </a:r>
            <a:r>
              <a:rPr lang="nl-NL" b="1" dirty="0" err="1">
                <a:solidFill>
                  <a:schemeClr val="accent1"/>
                </a:solidFill>
              </a:rPr>
              <a:t>color</a:t>
            </a:r>
            <a:r>
              <a:rPr lang="nl-NL" b="1" dirty="0">
                <a:solidFill>
                  <a:schemeClr val="accent1"/>
                </a:solidFill>
              </a:rPr>
              <a:t>: </a:t>
            </a:r>
            <a:r>
              <a:rPr lang="nl-NL" b="1" dirty="0" err="1" smtClean="0">
                <a:solidFill>
                  <a:schemeClr val="accent1"/>
                </a:solidFill>
              </a:rPr>
              <a:t>purple</a:t>
            </a:r>
            <a:r>
              <a:rPr lang="nl-NL" b="1" dirty="0" smtClean="0">
                <a:solidFill>
                  <a:schemeClr val="accent1"/>
                </a:solidFill>
              </a:rPr>
              <a:t>}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dirty="0" smtClean="0"/>
              <a:t>HSL: tint (kleur), verzadiging(grijstint) en lichtheid( hoeveelheid wit-zwart)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smtClean="0">
                <a:sym typeface="Wingdings" panose="05000000000000000000" pitchFamily="2" charset="2"/>
                <a:hlinkClick r:id="rId3"/>
              </a:rPr>
              <a:t>http</a:t>
            </a:r>
            <a:r>
              <a:rPr lang="nl-NL" dirty="0">
                <a:sym typeface="Wingdings" panose="05000000000000000000" pitchFamily="2" charset="2"/>
                <a:hlinkClick r:id="rId3"/>
              </a:rPr>
              <a:t>://hslpicker.com/#</a:t>
            </a:r>
            <a:r>
              <a:rPr lang="nl-NL" dirty="0" smtClean="0">
                <a:sym typeface="Wingdings" panose="05000000000000000000" pitchFamily="2" charset="2"/>
                <a:hlinkClick r:id="rId3"/>
              </a:rPr>
              <a:t>9e931f</a:t>
            </a:r>
            <a:r>
              <a:rPr lang="nl-NL" dirty="0" smtClean="0">
                <a:sym typeface="Wingdings" panose="05000000000000000000" pitchFamily="2" charset="2"/>
              </a:rPr>
              <a:t> </a:t>
            </a:r>
            <a:endParaRPr lang="nl-NL" dirty="0" smtClean="0"/>
          </a:p>
          <a:p>
            <a:r>
              <a:rPr lang="nl-NL" dirty="0"/>
              <a:t>	</a:t>
            </a:r>
            <a:r>
              <a:rPr lang="nl-NL" b="1" dirty="0">
                <a:solidFill>
                  <a:schemeClr val="accent1"/>
                </a:solidFill>
              </a:rPr>
              <a:t>BV: body{</a:t>
            </a:r>
            <a:r>
              <a:rPr lang="nl-NL" b="1" dirty="0" err="1">
                <a:solidFill>
                  <a:schemeClr val="accent1"/>
                </a:solidFill>
              </a:rPr>
              <a:t>color</a:t>
            </a:r>
            <a:r>
              <a:rPr lang="nl-NL" b="1" dirty="0">
                <a:solidFill>
                  <a:schemeClr val="accent1"/>
                </a:solidFill>
              </a:rPr>
              <a:t>: </a:t>
            </a:r>
            <a:r>
              <a:rPr lang="nl-NL" b="1" dirty="0" smtClean="0">
                <a:solidFill>
                  <a:schemeClr val="accent1"/>
                </a:solidFill>
              </a:rPr>
              <a:t>hsl(55,67%,67%)}</a:t>
            </a:r>
          </a:p>
          <a:p>
            <a:r>
              <a:rPr lang="nl-NL" sz="3200" b="1" dirty="0">
                <a:solidFill>
                  <a:srgbClr val="FF0000"/>
                </a:solidFill>
              </a:rPr>
              <a:t>Opmerking Voor W3C CSS: Als u  de kleur eigenschap  definieert , moet u ook de background-</a:t>
            </a:r>
            <a:r>
              <a:rPr lang="nl-NL" sz="3200" b="1" dirty="0" err="1">
                <a:solidFill>
                  <a:srgbClr val="FF0000"/>
                </a:solidFill>
              </a:rPr>
              <a:t>color</a:t>
            </a:r>
            <a:r>
              <a:rPr lang="nl-NL" sz="3200" b="1" dirty="0">
                <a:solidFill>
                  <a:srgbClr val="FF0000"/>
                </a:solidFill>
              </a:rPr>
              <a:t> eigenschap </a:t>
            </a:r>
            <a:r>
              <a:rPr lang="nl-NL" sz="3200" b="1" dirty="0" smtClean="0">
                <a:solidFill>
                  <a:srgbClr val="FF0000"/>
                </a:solidFill>
              </a:rPr>
              <a:t>definiëren.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nl-NL" b="1" dirty="0">
              <a:solidFill>
                <a:schemeClr val="accent1"/>
              </a:solidFill>
            </a:endParaRPr>
          </a:p>
          <a:p>
            <a:endParaRPr lang="nl-NL" dirty="0" smtClean="0"/>
          </a:p>
          <a:p>
            <a:endParaRPr lang="nl-NL" dirty="0"/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41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Colors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4349" y="1295400"/>
            <a:ext cx="11160126" cy="4837113"/>
          </a:xfrm>
        </p:spPr>
        <p:txBody>
          <a:bodyPr>
            <a:normAutofit fontScale="92500" lnSpcReduction="20000"/>
          </a:bodyPr>
          <a:lstStyle/>
          <a:p>
            <a:r>
              <a:rPr lang="nl-NL" dirty="0" smtClean="0"/>
              <a:t>Voorgrondkleur:</a:t>
            </a:r>
          </a:p>
          <a:p>
            <a:r>
              <a:rPr lang="nl-NL" dirty="0" err="1" smtClean="0"/>
              <a:t>Color</a:t>
            </a:r>
            <a:r>
              <a:rPr lang="nl-NL" dirty="0" smtClean="0"/>
              <a:t> attribuut. </a:t>
            </a:r>
          </a:p>
          <a:p>
            <a:endParaRPr lang="nl-NL" dirty="0"/>
          </a:p>
          <a:p>
            <a:r>
              <a:rPr lang="nl-NL" dirty="0" smtClean="0"/>
              <a:t>Achtergrondkleur:</a:t>
            </a:r>
          </a:p>
          <a:p>
            <a:r>
              <a:rPr lang="nl-NL" dirty="0" smtClean="0"/>
              <a:t>Background-</a:t>
            </a:r>
            <a:r>
              <a:rPr lang="nl-NL" dirty="0" err="1" smtClean="0"/>
              <a:t>color</a:t>
            </a:r>
            <a:r>
              <a:rPr lang="nl-NL" dirty="0" smtClean="0"/>
              <a:t> attribuut. </a:t>
            </a:r>
          </a:p>
          <a:p>
            <a:endParaRPr lang="nl-NL" dirty="0"/>
          </a:p>
          <a:p>
            <a:r>
              <a:rPr lang="nl-NL" dirty="0" smtClean="0"/>
              <a:t>Doorzichtigheid:</a:t>
            </a:r>
          </a:p>
          <a:p>
            <a:r>
              <a:rPr lang="nl-NL" dirty="0" err="1" smtClean="0"/>
              <a:t>Opacity</a:t>
            </a:r>
            <a:r>
              <a:rPr lang="nl-NL" dirty="0" smtClean="0"/>
              <a:t> attribuut. </a:t>
            </a:r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888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font	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301793"/>
              </p:ext>
            </p:extLst>
          </p:nvPr>
        </p:nvGraphicFramePr>
        <p:xfrm>
          <a:off x="608012" y="2743200"/>
          <a:ext cx="10363200" cy="35370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2426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Generic family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Font family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458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Georgia" panose="02040502050405020303" pitchFamily="18" charset="0"/>
                        </a:rPr>
                        <a:t>Serif (</a:t>
                      </a:r>
                      <a:r>
                        <a:rPr lang="en-US" sz="2800" dirty="0" err="1" smtClean="0">
                          <a:latin typeface="Georgia" panose="02040502050405020303" pitchFamily="18" charset="0"/>
                        </a:rPr>
                        <a:t>drukwerken</a:t>
                      </a:r>
                      <a:r>
                        <a:rPr lang="en-US" sz="2800" dirty="0" smtClean="0">
                          <a:latin typeface="Georgia" panose="02040502050405020303" pitchFamily="18" charset="0"/>
                        </a:rPr>
                        <a:t>)</a:t>
                      </a:r>
                      <a:endParaRPr lang="en-US" sz="28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Georgia" panose="02040502050405020303" pitchFamily="18" charset="0"/>
                          <a:cs typeface="Times New Roman" panose="02020603050405020304" pitchFamily="18" charset="0"/>
                        </a:rPr>
                        <a:t>Times New Roman</a:t>
                      </a:r>
                      <a:r>
                        <a:rPr lang="en-US" sz="2800" dirty="0">
                          <a:latin typeface="Georgia" panose="02040502050405020303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800" dirty="0">
                          <a:latin typeface="Georgia" panose="02040502050405020303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800" dirty="0">
                          <a:effectLst/>
                          <a:latin typeface="Georgia" panose="02040502050405020303" pitchFamily="18" charset="0"/>
                          <a:cs typeface="Times New Roman" panose="02020603050405020304" pitchFamily="18" charset="0"/>
                        </a:rPr>
                        <a:t>Georgia</a:t>
                      </a:r>
                      <a:endParaRPr lang="en-US" sz="2800" dirty="0"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458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Sans-serif (</a:t>
                      </a:r>
                      <a:r>
                        <a:rPr lang="en-US" sz="28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beeldschermen</a:t>
                      </a:r>
                      <a:r>
                        <a:rPr lang="en-US" sz="2800" dirty="0" smtClean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)</a:t>
                      </a:r>
                      <a:endParaRPr lang="en-US" sz="2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Arial</a:t>
                      </a:r>
                      <a: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/>
                      </a:r>
                      <a:br>
                        <a:rPr lang="en-US" sz="28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Verdana</a:t>
                      </a:r>
                      <a:endParaRPr lang="en-US" sz="28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458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Monospace (code)</a:t>
                      </a:r>
                      <a:endParaRPr lang="en-US" sz="2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Courier New</a:t>
                      </a:r>
                      <a: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/>
                      </a:r>
                      <a:br>
                        <a:rPr lang="en-US" sz="2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Lucida Console</a:t>
                      </a:r>
                      <a:endParaRPr lang="en-US" sz="2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" name="Picture 2" descr="http://almer.tigelaar.net/blog/wp-content/uploads/2013/07/2012-09-24-Fon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812" y="221669"/>
            <a:ext cx="4572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775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Voorbeeld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.fonts </a:t>
            </a:r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font-family:Verdana</a:t>
            </a:r>
            <a:r>
              <a:rPr lang="en-US" dirty="0"/>
              <a:t>, Geneva, sans-serif;</a:t>
            </a:r>
          </a:p>
          <a:p>
            <a:r>
              <a:rPr lang="en-US" dirty="0"/>
              <a:t>	font-size:16px;</a:t>
            </a:r>
          </a:p>
          <a:p>
            <a:r>
              <a:rPr lang="en-US" dirty="0"/>
              <a:t>	</a:t>
            </a:r>
            <a:r>
              <a:rPr lang="en-US" dirty="0" err="1"/>
              <a:t>font-style:normal</a:t>
            </a:r>
            <a:r>
              <a:rPr lang="en-US" dirty="0"/>
              <a:t>;</a:t>
            </a:r>
          </a:p>
          <a:p>
            <a:r>
              <a:rPr lang="en-US" dirty="0" smtClean="0"/>
              <a:t>}</a:t>
            </a:r>
          </a:p>
          <a:p>
            <a:endParaRPr lang="nl-BE" dirty="0"/>
          </a:p>
          <a:p>
            <a:r>
              <a:rPr lang="en-US" dirty="0" smtClean="0"/>
              <a:t>.colors</a:t>
            </a:r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color:red</a:t>
            </a:r>
            <a:r>
              <a:rPr lang="en-US" dirty="0"/>
              <a:t>;</a:t>
            </a:r>
          </a:p>
          <a:p>
            <a:r>
              <a:rPr lang="en-US" dirty="0"/>
              <a:t>	background-color:#55BFFF;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466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EM, PT, PX of % 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609441" y="990600"/>
            <a:ext cx="11160126" cy="495300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/>
              <a:t>Point values are only for print CSS!</a:t>
            </a:r>
            <a:endParaRPr lang="en-US" sz="39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 smtClean="0"/>
              <a:t>1em </a:t>
            </a:r>
            <a:r>
              <a:rPr lang="en-US" sz="3900" dirty="0"/>
              <a:t>is equal to the current font-size of the element in question</a:t>
            </a:r>
            <a:r>
              <a:rPr lang="en-US" sz="3900" dirty="0" smtClean="0"/>
              <a:t>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441" y="1382469"/>
            <a:ext cx="10830479" cy="25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129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EM: Google </a:t>
            </a:r>
            <a:r>
              <a:rPr lang="nl-BE" dirty="0" smtClean="0">
                <a:sym typeface="Wingdings" panose="05000000000000000000" pitchFamily="2" charset="2"/>
              </a:rPr>
              <a:t> 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most popular method in working with </a:t>
            </a:r>
            <a:r>
              <a:rPr lang="en-US" dirty="0" err="1"/>
              <a:t>em</a:t>
            </a:r>
            <a:r>
              <a:rPr lang="en-US" dirty="0"/>
              <a:t> values is to set the font-size on the body to 62.5%. Because the default browser font-size is 16px, this makes it 10px (without hard-setting it to 10px, which wouldn't cascade). Using 10 as a multiplier is much easier than using 16. This way, you need a font size of 18px? Use font-size: 1.8em.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47177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MAAK OPDRACHT 1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 smtClean="0"/>
              <a:t>CSS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8684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14349" y="1066800"/>
            <a:ext cx="11160126" cy="5065713"/>
          </a:xfrm>
        </p:spPr>
        <p:txBody>
          <a:bodyPr>
            <a:normAutofit fontScale="85000" lnSpcReduction="10000"/>
          </a:bodyPr>
          <a:lstStyle/>
          <a:p>
            <a:r>
              <a:rPr lang="nl-NL" dirty="0" smtClean="0"/>
              <a:t>Speciaal </a:t>
            </a:r>
            <a:r>
              <a:rPr lang="nl-NL" dirty="0"/>
              <a:t>voor links </a:t>
            </a:r>
            <a:r>
              <a:rPr lang="nl-NL" dirty="0" smtClean="0"/>
              <a:t>is </a:t>
            </a:r>
            <a:r>
              <a:rPr lang="nl-NL" dirty="0"/>
              <a:t>dat ze kunnen worden vormgegeven </a:t>
            </a:r>
            <a:r>
              <a:rPr lang="nl-NL" dirty="0" smtClean="0"/>
              <a:t> </a:t>
            </a:r>
            <a:r>
              <a:rPr lang="nl-NL" dirty="0"/>
              <a:t>afhankelijk van </a:t>
            </a:r>
            <a:r>
              <a:rPr lang="nl-NL" dirty="0" smtClean="0"/>
              <a:t>in welke </a:t>
            </a:r>
            <a:r>
              <a:rPr lang="nl-NL" dirty="0"/>
              <a:t>staat ze zich </a:t>
            </a:r>
            <a:r>
              <a:rPr lang="nl-NL" dirty="0" smtClean="0"/>
              <a:t>bevinden</a:t>
            </a:r>
          </a:p>
          <a:p>
            <a:r>
              <a:rPr lang="nl-NL" dirty="0"/>
              <a:t>     a: </a:t>
            </a:r>
            <a:r>
              <a:rPr lang="nl-NL" dirty="0" smtClean="0"/>
              <a:t>link: een </a:t>
            </a:r>
            <a:r>
              <a:rPr lang="nl-NL" dirty="0"/>
              <a:t>normale, niet-bezochte </a:t>
            </a:r>
            <a:r>
              <a:rPr lang="nl-NL" dirty="0" smtClean="0"/>
              <a:t>koppeling</a:t>
            </a:r>
          </a:p>
          <a:p>
            <a:r>
              <a:rPr lang="nl-NL" dirty="0"/>
              <a:t>     a: </a:t>
            </a:r>
            <a:r>
              <a:rPr lang="nl-NL" dirty="0" err="1" smtClean="0"/>
              <a:t>visited</a:t>
            </a:r>
            <a:r>
              <a:rPr lang="nl-NL" dirty="0" smtClean="0"/>
              <a:t>: </a:t>
            </a:r>
            <a:r>
              <a:rPr lang="nl-NL" dirty="0"/>
              <a:t>een link die de gebruiker heeft </a:t>
            </a:r>
            <a:r>
              <a:rPr lang="nl-NL" dirty="0" smtClean="0"/>
              <a:t>bezocht</a:t>
            </a:r>
          </a:p>
          <a:p>
            <a:r>
              <a:rPr lang="nl-NL" dirty="0"/>
              <a:t>     a: </a:t>
            </a:r>
            <a:r>
              <a:rPr lang="nl-NL" dirty="0" err="1" smtClean="0"/>
              <a:t>hover</a:t>
            </a:r>
            <a:r>
              <a:rPr lang="nl-NL" dirty="0" smtClean="0"/>
              <a:t>: wanneer je met je muis over de link 		   	navigeert.</a:t>
            </a:r>
          </a:p>
          <a:p>
            <a:r>
              <a:rPr lang="nl-NL" dirty="0"/>
              <a:t>     a: </a:t>
            </a:r>
            <a:r>
              <a:rPr lang="nl-NL" dirty="0" err="1" smtClean="0"/>
              <a:t>active</a:t>
            </a:r>
            <a:r>
              <a:rPr lang="nl-NL" dirty="0" smtClean="0"/>
              <a:t>: wanneer je al eens op de link hebt geklikt.</a:t>
            </a:r>
            <a:endParaRPr lang="en-US" dirty="0"/>
          </a:p>
          <a:p>
            <a:r>
              <a:rPr lang="en-US" dirty="0" smtClean="0"/>
              <a:t>     a: focus: </a:t>
            </a:r>
            <a:r>
              <a:rPr lang="en-US" dirty="0" err="1" smtClean="0"/>
              <a:t>wanneer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element de focus </a:t>
            </a:r>
            <a:r>
              <a:rPr lang="en-US" dirty="0" err="1" smtClean="0"/>
              <a:t>heeft</a:t>
            </a:r>
            <a:r>
              <a:rPr lang="en-US" dirty="0" smtClean="0"/>
              <a:t>.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6036378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</a:t>
            </a:r>
            <a:r>
              <a:rPr lang="nl-BE" dirty="0" err="1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l-BE" dirty="0" smtClean="0"/>
              <a:t>SQUARE</a:t>
            </a:r>
            <a:endParaRPr lang="en-US" dirty="0" smtClean="0"/>
          </a:p>
          <a:p>
            <a:r>
              <a:rPr lang="en-US" dirty="0" err="1" smtClean="0"/>
              <a:t>ul.lists</a:t>
            </a: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</a:t>
            </a:r>
            <a:r>
              <a:rPr lang="en-US" dirty="0" err="1"/>
              <a:t>list-style-type:square</a:t>
            </a:r>
            <a:r>
              <a:rPr lang="en-US" dirty="0"/>
              <a:t>;</a:t>
            </a:r>
          </a:p>
          <a:p>
            <a:r>
              <a:rPr lang="en-US" dirty="0" smtClean="0"/>
              <a:t>}</a:t>
            </a:r>
          </a:p>
          <a:p>
            <a:endParaRPr lang="nl-BE" dirty="0" smtClean="0"/>
          </a:p>
          <a:p>
            <a:r>
              <a:rPr lang="nl-BE" dirty="0" smtClean="0"/>
              <a:t>IMAGE:</a:t>
            </a:r>
            <a:endParaRPr lang="nl-BE" dirty="0"/>
          </a:p>
          <a:p>
            <a:r>
              <a:rPr lang="en-US" dirty="0" err="1"/>
              <a:t>ul</a:t>
            </a:r>
            <a:r>
              <a:rPr lang="en-US" dirty="0"/>
              <a:t> </a:t>
            </a:r>
          </a:p>
          <a:p>
            <a:r>
              <a:rPr lang="en-US" dirty="0"/>
              <a:t>{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list-style-image:url</a:t>
            </a:r>
            <a:r>
              <a:rPr lang="en-US" dirty="0"/>
              <a:t>('sqpurple.gif');</a:t>
            </a:r>
          </a:p>
          <a:p>
            <a:r>
              <a:rPr lang="en-US" dirty="0"/>
              <a:t>}</a:t>
            </a:r>
            <a:endParaRPr lang="en-US" dirty="0" smtClean="0"/>
          </a:p>
          <a:p>
            <a:endParaRPr lang="nl-B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11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CSS </a:t>
            </a:r>
            <a:r>
              <a:rPr lang="nl-BE" dirty="0" err="1" smtClean="0"/>
              <a:t>tables</a:t>
            </a:r>
            <a:r>
              <a:rPr lang="nl-BE" dirty="0" smtClean="0"/>
              <a:t>: voorbeeld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table,th</a:t>
            </a:r>
            <a:r>
              <a:rPr lang="en-US" dirty="0"/>
              <a:t>, td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border: 1px solid black;</a:t>
            </a:r>
          </a:p>
          <a:p>
            <a:r>
              <a:rPr lang="en-US" dirty="0" err="1"/>
              <a:t>text-align:right</a:t>
            </a:r>
            <a:r>
              <a:rPr lang="en-US" dirty="0"/>
              <a:t>;</a:t>
            </a:r>
          </a:p>
          <a:p>
            <a:r>
              <a:rPr lang="en-US" dirty="0"/>
              <a:t>height:50px;</a:t>
            </a:r>
          </a:p>
          <a:p>
            <a:r>
              <a:rPr lang="en-US" dirty="0" err="1"/>
              <a:t>vertical-align:bottom</a:t>
            </a:r>
            <a:r>
              <a:rPr lang="en-US" dirty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07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Advanced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 smtClean="0"/>
              <a:t>CSS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1246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Grouping</a:t>
            </a:r>
            <a:r>
              <a:rPr lang="nl-BE" dirty="0" smtClean="0"/>
              <a:t> en Nesting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5224271"/>
          </a:xfrm>
          <a:prstGeom prst="rect">
            <a:avLst/>
          </a:prstGeom>
        </p:spPr>
        <p:txBody>
          <a:bodyPr/>
          <a:lstStyle/>
          <a:p>
            <a:r>
              <a:rPr lang="nl-BE" sz="3600" dirty="0" err="1" smtClean="0">
                <a:latin typeface="+mn-lt"/>
              </a:rPr>
              <a:t>Grouping</a:t>
            </a:r>
            <a:endParaRPr lang="nl-BE" sz="3600" dirty="0" smtClean="0">
              <a:latin typeface="+mn-lt"/>
            </a:endParaRPr>
          </a:p>
          <a:p>
            <a:pPr lvl="1">
              <a:buFont typeface="Wingdings" pitchFamily="2" charset="2"/>
              <a:buNone/>
            </a:pPr>
            <a:r>
              <a:rPr lang="nl-BE" sz="3200" dirty="0" smtClean="0">
                <a:cs typeface="Consolas" pitchFamily="49" charset="0"/>
              </a:rPr>
              <a:t>h1</a:t>
            </a:r>
            <a:r>
              <a:rPr lang="nl-BE" sz="3200" dirty="0">
                <a:cs typeface="Consolas" pitchFamily="49" charset="0"/>
              </a:rPr>
              <a:t>, h2, </a:t>
            </a:r>
            <a:r>
              <a:rPr lang="nl-BE" sz="3200" dirty="0" smtClean="0">
                <a:cs typeface="Consolas" pitchFamily="49" charset="0"/>
              </a:rPr>
              <a:t>h3 {</a:t>
            </a:r>
          </a:p>
          <a:p>
            <a:pPr lvl="1">
              <a:buFont typeface="Wingdings" pitchFamily="2" charset="2"/>
              <a:buNone/>
            </a:pPr>
            <a:r>
              <a:rPr lang="nl-BE" sz="3200" dirty="0" err="1" smtClean="0">
                <a:cs typeface="Consolas" pitchFamily="49" charset="0"/>
              </a:rPr>
              <a:t>color</a:t>
            </a:r>
            <a:r>
              <a:rPr lang="nl-BE" sz="3200" dirty="0">
                <a:cs typeface="Consolas" pitchFamily="49" charset="0"/>
              </a:rPr>
              <a:t>: </a:t>
            </a:r>
            <a:r>
              <a:rPr lang="nl-BE" sz="3200" dirty="0" smtClean="0">
                <a:cs typeface="Consolas" pitchFamily="49" charset="0"/>
              </a:rPr>
              <a:t>red</a:t>
            </a:r>
          </a:p>
          <a:p>
            <a:pPr lvl="1">
              <a:buFont typeface="Wingdings" pitchFamily="2" charset="2"/>
              <a:buNone/>
            </a:pPr>
            <a:r>
              <a:rPr lang="nl-BE" sz="3200" dirty="0" smtClean="0">
                <a:cs typeface="Consolas" pitchFamily="49" charset="0"/>
              </a:rPr>
              <a:t>}</a:t>
            </a:r>
          </a:p>
          <a:p>
            <a:r>
              <a:rPr lang="nl-BE" sz="3600" dirty="0" smtClean="0">
                <a:latin typeface="+mn-lt"/>
              </a:rPr>
              <a:t>Nesting</a:t>
            </a:r>
          </a:p>
          <a:p>
            <a:r>
              <a:rPr lang="nl-NL" sz="3200" dirty="0" smtClean="0">
                <a:latin typeface="+mn-lt"/>
                <a:cs typeface="Consolas" pitchFamily="49" charset="0"/>
              </a:rPr>
              <a:t>.class p { </a:t>
            </a:r>
          </a:p>
          <a:p>
            <a:pPr marL="393192" lvl="1" indent="0">
              <a:buNone/>
            </a:pPr>
            <a:r>
              <a:rPr lang="nl-NL" sz="3200" dirty="0" err="1" smtClean="0">
                <a:cs typeface="Consolas" pitchFamily="49" charset="0"/>
              </a:rPr>
              <a:t>color:red</a:t>
            </a:r>
            <a:r>
              <a:rPr lang="nl-NL" sz="3200" dirty="0" smtClean="0">
                <a:cs typeface="Consolas" pitchFamily="49" charset="0"/>
              </a:rPr>
              <a:t> </a:t>
            </a:r>
          </a:p>
          <a:p>
            <a:pPr marL="393192" lvl="1" indent="0">
              <a:buNone/>
            </a:pPr>
            <a:r>
              <a:rPr lang="nl-NL" sz="3200" dirty="0" smtClean="0">
                <a:cs typeface="Consolas" pitchFamily="49" charset="0"/>
              </a:rPr>
              <a:t>}</a:t>
            </a:r>
            <a:endParaRPr lang="nl-NL" sz="3200" dirty="0">
              <a:cs typeface="Consolas" pitchFamily="49" charset="0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45685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Basis: het box-model</a:t>
            </a:r>
            <a:endParaRPr lang="nl-BE" dirty="0"/>
          </a:p>
        </p:txBody>
      </p:sp>
      <p:pic>
        <p:nvPicPr>
          <p:cNvPr id="3074" name="Picture 2" descr="http://www.w3schools.com/css/box-model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909" y="1412776"/>
            <a:ext cx="8136904" cy="438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446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smtClean="0"/>
              <a:t>Display: hoe wordt element getoond?</a:t>
            </a:r>
          </a:p>
          <a:p>
            <a:pPr lvl="1"/>
            <a:r>
              <a:rPr lang="nl-BE" dirty="0" smtClean="0"/>
              <a:t>Hoe wordt de box weergegeven</a:t>
            </a:r>
          </a:p>
          <a:p>
            <a:pPr lvl="1"/>
            <a:r>
              <a:rPr lang="nl-BE" dirty="0" smtClean="0"/>
              <a:t>Waarden</a:t>
            </a:r>
          </a:p>
          <a:p>
            <a:pPr lvl="2"/>
            <a:r>
              <a:rPr lang="nl-BE" dirty="0" smtClean="0"/>
              <a:t>None (box is onzichtbaar)</a:t>
            </a:r>
          </a:p>
          <a:p>
            <a:pPr lvl="2"/>
            <a:r>
              <a:rPr lang="nl-BE" dirty="0" err="1" smtClean="0"/>
              <a:t>Inline</a:t>
            </a:r>
            <a:r>
              <a:rPr lang="nl-BE" dirty="0" smtClean="0"/>
              <a:t> </a:t>
            </a:r>
            <a:r>
              <a:rPr lang="nl-BE" dirty="0" smtClean="0">
                <a:sym typeface="Wingdings" panose="05000000000000000000" pitchFamily="2" charset="2"/>
              </a:rPr>
              <a:t> In de lijn </a:t>
            </a:r>
            <a:endParaRPr lang="nl-BE" dirty="0" smtClean="0"/>
          </a:p>
          <a:p>
            <a:pPr lvl="2"/>
            <a:r>
              <a:rPr lang="nl-BE" dirty="0" err="1" smtClean="0"/>
              <a:t>Inline</a:t>
            </a:r>
            <a:r>
              <a:rPr lang="nl-BE" dirty="0" smtClean="0"/>
              <a:t>-block </a:t>
            </a:r>
            <a:r>
              <a:rPr lang="nl-BE" dirty="0" smtClean="0">
                <a:sym typeface="Wingdings" panose="05000000000000000000" pitchFamily="2" charset="2"/>
              </a:rPr>
              <a:t> In de lijn maar als block</a:t>
            </a:r>
            <a:endParaRPr lang="nl-BE" dirty="0" smtClean="0"/>
          </a:p>
          <a:p>
            <a:pPr lvl="2"/>
            <a:r>
              <a:rPr lang="nl-BE" dirty="0" smtClean="0"/>
              <a:t>Block </a:t>
            </a:r>
            <a:r>
              <a:rPr lang="nl-BE" dirty="0" smtClean="0">
                <a:sym typeface="Wingdings" panose="05000000000000000000" pitchFamily="2" charset="2"/>
              </a:rPr>
              <a:t> Als block, niet in lijn </a:t>
            </a:r>
            <a:r>
              <a:rPr lang="nl-BE" dirty="0" err="1" smtClean="0">
                <a:sym typeface="Wingdings" panose="05000000000000000000" pitchFamily="2" charset="2"/>
              </a:rPr>
              <a:t>lijn</a:t>
            </a:r>
            <a:endParaRPr lang="nl-BE" dirty="0" smtClean="0">
              <a:sym typeface="Wingdings" panose="05000000000000000000" pitchFamily="2" charset="2"/>
            </a:endParaRPr>
          </a:p>
          <a:p>
            <a:pPr lvl="2"/>
            <a:endParaRPr lang="nl-BE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nl-BE" dirty="0">
                <a:hlinkClick r:id="rId2"/>
              </a:rPr>
              <a:t>http://jsfiddle.net/Mta2b</a:t>
            </a:r>
            <a:r>
              <a:rPr lang="nl-BE" dirty="0" smtClean="0">
                <a:hlinkClick r:id="rId2"/>
              </a:rPr>
              <a:t>/</a:t>
            </a:r>
            <a:r>
              <a:rPr lang="nl-BE" dirty="0" smtClean="0"/>
              <a:t> </a:t>
            </a:r>
          </a:p>
          <a:p>
            <a:pPr lvl="2"/>
            <a:endParaRPr lang="nl-BE" dirty="0" smtClean="0"/>
          </a:p>
          <a:p>
            <a:pPr lvl="2"/>
            <a:endParaRPr lang="nl-B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Box-model: display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76237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Box model: </a:t>
            </a:r>
            <a:r>
              <a:rPr lang="nl-BE" dirty="0" err="1" smtClean="0"/>
              <a:t>Visibility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767071"/>
          </a:xfrm>
          <a:prstGeom prst="rect">
            <a:avLst/>
          </a:prstGeom>
        </p:spPr>
        <p:txBody>
          <a:bodyPr/>
          <a:lstStyle/>
          <a:p>
            <a:pPr lvl="1"/>
            <a:r>
              <a:rPr lang="nl-BE" sz="3200" dirty="0" err="1" smtClean="0">
                <a:latin typeface="Myriad Pro Semibold"/>
              </a:rPr>
              <a:t>Visibility</a:t>
            </a:r>
            <a:r>
              <a:rPr lang="nl-BE" sz="3200" dirty="0">
                <a:latin typeface="Myriad Pro Semibold"/>
              </a:rPr>
              <a:t>: geeft aan dat een element zichtbaar of onzichtbaar moet zijn</a:t>
            </a:r>
          </a:p>
          <a:p>
            <a:pPr lvl="2"/>
            <a:r>
              <a:rPr lang="nl-BE" sz="3200" dirty="0">
                <a:latin typeface="Myriad Pro Semibold"/>
              </a:rPr>
              <a:t>Hidden: het element is niet zichtbaar maar neemt nog wel plaats in</a:t>
            </a:r>
          </a:p>
          <a:p>
            <a:pPr lvl="2"/>
            <a:r>
              <a:rPr lang="nl-BE" sz="3200" dirty="0">
                <a:latin typeface="Myriad Pro Semibold"/>
              </a:rPr>
              <a:t>Visible (default): toont het </a:t>
            </a:r>
            <a:r>
              <a:rPr lang="nl-BE" sz="3200" dirty="0" smtClean="0">
                <a:latin typeface="Myriad Pro Semibold"/>
              </a:rPr>
              <a:t>element</a:t>
            </a:r>
          </a:p>
          <a:p>
            <a:pPr lvl="2"/>
            <a:endParaRPr lang="nl-BE" sz="3200" dirty="0">
              <a:latin typeface="Myriad Pro Semibold"/>
            </a:endParaRPr>
          </a:p>
          <a:p>
            <a:pPr marL="115887" lvl="2" indent="0">
              <a:buNone/>
            </a:pPr>
            <a:r>
              <a:rPr lang="en-US" sz="3200" dirty="0" smtClean="0">
                <a:latin typeface="Myriad Pro Semibold"/>
                <a:sym typeface="Wingdings" pitchFamily="2" charset="2"/>
              </a:rPr>
              <a:t> </a:t>
            </a:r>
            <a:r>
              <a:rPr lang="en-US" sz="3200" dirty="0" smtClean="0">
                <a:latin typeface="Myriad Pro Semibold"/>
              </a:rPr>
              <a:t>h1.hidden </a:t>
            </a:r>
            <a:r>
              <a:rPr lang="en-US" sz="3200" dirty="0">
                <a:latin typeface="Myriad Pro Semibold"/>
              </a:rPr>
              <a:t>{</a:t>
            </a:r>
            <a:r>
              <a:rPr lang="en-US" sz="3200" dirty="0" err="1">
                <a:latin typeface="Myriad Pro Semibold"/>
              </a:rPr>
              <a:t>visibility:hidden</a:t>
            </a:r>
            <a:r>
              <a:rPr lang="en-US" sz="3200" dirty="0">
                <a:latin typeface="Myriad Pro Semibold"/>
              </a:rPr>
              <a:t>;}</a:t>
            </a:r>
            <a:endParaRPr lang="nl-BE" sz="3200" dirty="0">
              <a:latin typeface="Myriad Pro Semibold"/>
            </a:endParaRPr>
          </a:p>
          <a:p>
            <a:pPr lvl="1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4880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Position</a:t>
            </a:r>
            <a:endParaRPr lang="nl-BE" dirty="0"/>
          </a:p>
          <a:p>
            <a:pPr lvl="1"/>
            <a:r>
              <a:rPr lang="nl-BE" dirty="0" err="1"/>
              <a:t>Relative</a:t>
            </a:r>
            <a:endParaRPr lang="nl-BE" dirty="0"/>
          </a:p>
          <a:p>
            <a:pPr lvl="2"/>
            <a:r>
              <a:rPr lang="nl-BE" sz="2800" dirty="0"/>
              <a:t>Verplaats de box </a:t>
            </a:r>
            <a:r>
              <a:rPr lang="nl-BE" sz="2800" dirty="0" err="1"/>
              <a:t>t.o.v</a:t>
            </a:r>
            <a:r>
              <a:rPr lang="nl-BE" sz="2800" dirty="0"/>
              <a:t> zijn normale plaats in de flow</a:t>
            </a:r>
          </a:p>
          <a:p>
            <a:pPr lvl="1"/>
            <a:r>
              <a:rPr lang="nl-BE" dirty="0"/>
              <a:t>Absolute</a:t>
            </a:r>
          </a:p>
          <a:p>
            <a:pPr lvl="2"/>
            <a:r>
              <a:rPr lang="nl-BE" sz="2800" dirty="0"/>
              <a:t>Neem de box uit de flow en plaats ze ten op </a:t>
            </a:r>
            <a:r>
              <a:rPr lang="nl-BE" sz="2800" dirty="0" err="1"/>
              <a:t>zichte</a:t>
            </a:r>
            <a:r>
              <a:rPr lang="nl-BE" sz="2800" dirty="0"/>
              <a:t> </a:t>
            </a:r>
            <a:r>
              <a:rPr lang="nl-BE" sz="2800" dirty="0" smtClean="0"/>
              <a:t>van de </a:t>
            </a:r>
            <a:r>
              <a:rPr lang="nl-BE" sz="2800" dirty="0" err="1"/>
              <a:t>containing</a:t>
            </a:r>
            <a:r>
              <a:rPr lang="nl-BE" sz="2800" dirty="0"/>
              <a:t> box (eerste gepositioneerde box)</a:t>
            </a:r>
          </a:p>
          <a:p>
            <a:r>
              <a:rPr lang="nl-BE" dirty="0">
                <a:sym typeface="Wingdings" panose="05000000000000000000" pitchFamily="2" charset="2"/>
              </a:rPr>
              <a:t>Top, </a:t>
            </a:r>
            <a:r>
              <a:rPr lang="nl-BE" dirty="0" err="1">
                <a:sym typeface="Wingdings" panose="05000000000000000000" pitchFamily="2" charset="2"/>
              </a:rPr>
              <a:t>Left</a:t>
            </a:r>
            <a:r>
              <a:rPr lang="nl-BE" dirty="0">
                <a:sym typeface="Wingdings" panose="05000000000000000000" pitchFamily="2" charset="2"/>
              </a:rPr>
              <a:t>, Bottom, </a:t>
            </a:r>
            <a:r>
              <a:rPr lang="nl-BE" dirty="0" smtClean="0">
                <a:sym typeface="Wingdings" panose="05000000000000000000" pitchFamily="2" charset="2"/>
              </a:rPr>
              <a:t>Right</a:t>
            </a:r>
          </a:p>
          <a:p>
            <a:pPr marL="0" indent="0">
              <a:buNone/>
            </a:pPr>
            <a:r>
              <a:rPr lang="nl-BE" dirty="0">
                <a:sym typeface="Wingdings" panose="05000000000000000000" pitchFamily="2" charset="2"/>
                <a:hlinkClick r:id="rId2"/>
              </a:rPr>
              <a:t>https://</a:t>
            </a:r>
            <a:r>
              <a:rPr lang="nl-BE" dirty="0" smtClean="0">
                <a:sym typeface="Wingdings" panose="05000000000000000000" pitchFamily="2" charset="2"/>
                <a:hlinkClick r:id="rId2"/>
              </a:rPr>
              <a:t>www.youtube.com/watch?v=aFtByxWjfLY</a:t>
            </a:r>
            <a:r>
              <a:rPr lang="nl-BE" dirty="0" smtClean="0">
                <a:sym typeface="Wingdings" panose="05000000000000000000" pitchFamily="2" charset="2"/>
              </a:rPr>
              <a:t> </a:t>
            </a:r>
            <a:endParaRPr lang="nl-BE" dirty="0">
              <a:sym typeface="Wingdings" panose="05000000000000000000" pitchFamily="2" charset="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Box-model: positioning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91155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Voorbeelden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143001"/>
            <a:ext cx="11579384" cy="54864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lvl="1"/>
            <a:r>
              <a:rPr lang="nl-BE" sz="3500" b="1" dirty="0" err="1" smtClean="0">
                <a:latin typeface="Myriad Pro Semibold"/>
              </a:rPr>
              <a:t>Fixed</a:t>
            </a:r>
            <a:r>
              <a:rPr lang="nl-BE" sz="3500" b="1" dirty="0" smtClean="0">
                <a:latin typeface="Myriad Pro Semibold"/>
              </a:rPr>
              <a:t> positioning : Blijft altijd </a:t>
            </a:r>
          </a:p>
          <a:p>
            <a:pPr lvl="1"/>
            <a:r>
              <a:rPr lang="nl-BE" sz="3500" dirty="0" err="1" smtClean="0">
                <a:latin typeface="Myriad Pro Semibold"/>
              </a:rPr>
              <a:t>p.fixed</a:t>
            </a:r>
            <a:r>
              <a:rPr lang="nl-BE" sz="3500" dirty="0">
                <a:latin typeface="Myriad Pro Semibold"/>
              </a:rPr>
              <a:t/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{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	position:fixed;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	top:30px;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	right:5px;</a:t>
            </a:r>
            <a:br>
              <a:rPr lang="nl-BE" sz="3500" dirty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}</a:t>
            </a:r>
          </a:p>
          <a:p>
            <a:pPr lvl="1"/>
            <a:endParaRPr lang="nl-BE" sz="3500" dirty="0" smtClean="0">
              <a:latin typeface="Myriad Pro Semibold"/>
            </a:endParaRPr>
          </a:p>
          <a:p>
            <a:pPr lvl="1"/>
            <a:r>
              <a:rPr lang="nl-BE" sz="3500" b="1" dirty="0">
                <a:latin typeface="Myriad Pro Semibold"/>
              </a:rPr>
              <a:t>Relative positioning: </a:t>
            </a:r>
            <a:r>
              <a:rPr lang="nl-BE" sz="3500" dirty="0" smtClean="0">
                <a:latin typeface="Myriad Pro Semibold"/>
              </a:rPr>
              <a:t>Een </a:t>
            </a:r>
            <a:r>
              <a:rPr lang="nl-BE" sz="3500" dirty="0">
                <a:latin typeface="Myriad Pro Semibold"/>
              </a:rPr>
              <a:t>element plaatsen relatief ten opzichte van zijn normale plaatsing</a:t>
            </a:r>
          </a:p>
          <a:p>
            <a:pPr lvl="1"/>
            <a:r>
              <a:rPr lang="nl-BE" sz="3500" dirty="0">
                <a:latin typeface="Myriad Pro Semibold"/>
              </a:rPr>
              <a:t>div.left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{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	position:relative;</a:t>
            </a:r>
            <a:br>
              <a:rPr lang="nl-BE" sz="3500" dirty="0">
                <a:latin typeface="Myriad Pro Semibold"/>
              </a:rPr>
            </a:br>
            <a:r>
              <a:rPr lang="nl-BE" sz="3500" dirty="0">
                <a:latin typeface="Myriad Pro Semibold"/>
              </a:rPr>
              <a:t>	</a:t>
            </a:r>
            <a:r>
              <a:rPr lang="nl-BE" sz="3500" dirty="0" err="1" smtClean="0">
                <a:latin typeface="Myriad Pro Semibold"/>
              </a:rPr>
              <a:t>left</a:t>
            </a:r>
            <a:r>
              <a:rPr lang="nl-BE" sz="3500" dirty="0" smtClean="0">
                <a:latin typeface="Myriad Pro Semibold"/>
              </a:rPr>
              <a:t>: 20px</a:t>
            </a:r>
            <a:r>
              <a:rPr lang="nl-BE" sz="3500" dirty="0">
                <a:latin typeface="Myriad Pro Semibold"/>
              </a:rPr>
              <a:t>;</a:t>
            </a:r>
            <a:br>
              <a:rPr lang="nl-BE" sz="3500" dirty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}</a:t>
            </a:r>
          </a:p>
          <a:p>
            <a:pPr marL="457200" lvl="1" indent="-457200">
              <a:buFont typeface="Wingdings" panose="05000000000000000000" pitchFamily="2" charset="2"/>
              <a:buChar char="à"/>
            </a:pPr>
            <a:r>
              <a:rPr lang="nl-BE" sz="3500" dirty="0" smtClean="0">
                <a:latin typeface="Myriad Pro Semibold"/>
                <a:sym typeface="Wingdings" panose="05000000000000000000" pitchFamily="2" charset="2"/>
              </a:rPr>
              <a:t>20px links van waar het element normaal zou moeten staan. </a:t>
            </a:r>
          </a:p>
          <a:p>
            <a:pPr lvl="1"/>
            <a:r>
              <a:rPr lang="nl-BE" sz="3500" dirty="0">
                <a:latin typeface="Myriad Pro Semibold"/>
              </a:rPr>
              <a:t/>
            </a:r>
            <a:br>
              <a:rPr lang="nl-BE" sz="3500" dirty="0">
                <a:latin typeface="Myriad Pro Semibold"/>
              </a:rPr>
            </a:br>
            <a:r>
              <a:rPr lang="nl-BE" sz="3500" b="1" dirty="0" smtClean="0">
                <a:latin typeface="Myriad Pro Semibold"/>
              </a:rPr>
              <a:t>Absolute positioning: </a:t>
            </a:r>
            <a:r>
              <a:rPr lang="nl-BE" sz="3500" dirty="0" smtClean="0">
                <a:latin typeface="Myriad Pro Semibold"/>
              </a:rPr>
              <a:t>Een element kan eender waar op de pagina geplaats worden.</a:t>
            </a:r>
          </a:p>
          <a:p>
            <a:pPr lvl="1"/>
            <a:r>
              <a:rPr lang="nl-BE" sz="3500" dirty="0" err="1" smtClean="0">
                <a:latin typeface="Myriad Pro Semibold"/>
              </a:rPr>
              <a:t>div.abs</a:t>
            </a:r>
            <a:r>
              <a:rPr lang="nl-BE" sz="3500" dirty="0" smtClean="0">
                <a:latin typeface="Myriad Pro Semibold"/>
              </a:rPr>
              <a:t/>
            </a:r>
            <a:br>
              <a:rPr lang="nl-BE" sz="3500" dirty="0" smtClean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{</a:t>
            </a:r>
            <a:br>
              <a:rPr lang="nl-BE" sz="3500" dirty="0" smtClean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	</a:t>
            </a:r>
            <a:r>
              <a:rPr lang="nl-BE" sz="3500" dirty="0" err="1" smtClean="0">
                <a:latin typeface="Myriad Pro Semibold"/>
              </a:rPr>
              <a:t>position:absolute</a:t>
            </a:r>
            <a:r>
              <a:rPr lang="nl-BE" sz="3500" dirty="0" smtClean="0">
                <a:latin typeface="Myriad Pro Semibold"/>
              </a:rPr>
              <a:t>;</a:t>
            </a:r>
            <a:br>
              <a:rPr lang="nl-BE" sz="3500" dirty="0" smtClean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	left:100px;</a:t>
            </a:r>
            <a:br>
              <a:rPr lang="nl-BE" sz="3500" dirty="0" smtClean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	top:150px;</a:t>
            </a:r>
            <a:br>
              <a:rPr lang="nl-BE" sz="3500" dirty="0" smtClean="0">
                <a:latin typeface="Myriad Pro Semibold"/>
              </a:rPr>
            </a:br>
            <a:r>
              <a:rPr lang="nl-BE" sz="3500" dirty="0" smtClean="0">
                <a:latin typeface="Myriad Pro Semibold"/>
              </a:rPr>
              <a:t>}</a:t>
            </a:r>
          </a:p>
          <a:p>
            <a:pPr marL="457200" lvl="1" indent="0">
              <a:buNone/>
            </a:pPr>
            <a:endParaRPr lang="nl-BE" dirty="0"/>
          </a:p>
          <a:p>
            <a:pPr marL="457200" lvl="1" indent="0">
              <a:buNone/>
            </a:pPr>
            <a:endParaRPr lang="nl-B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6271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Z-index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img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position:absolute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	left:0px;</a:t>
            </a:r>
            <a:br>
              <a:rPr lang="en-US" dirty="0" smtClean="0"/>
            </a:br>
            <a:r>
              <a:rPr lang="en-US" dirty="0" smtClean="0"/>
              <a:t>	top:0px;</a:t>
            </a:r>
            <a:br>
              <a:rPr lang="en-US" dirty="0" smtClean="0"/>
            </a:br>
            <a:r>
              <a:rPr lang="en-US" dirty="0" smtClean="0"/>
              <a:t>	z-index:1;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r>
              <a:rPr lang="nl-BE" dirty="0" smtClean="0">
                <a:sym typeface="Wingdings" pitchFamily="2" charset="2"/>
              </a:rPr>
              <a:t> Orde v/d elementen wanneer ze elkaar overlappen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676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Positioning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/>
            <a:r>
              <a:rPr lang="nl-BE" sz="2800" dirty="0" smtClean="0">
                <a:latin typeface="Myriad Pro Semibold"/>
              </a:rPr>
              <a:t>Overflow</a:t>
            </a:r>
            <a:r>
              <a:rPr lang="nl-BE" sz="2800" dirty="0">
                <a:latin typeface="Myriad Pro Semibold"/>
              </a:rPr>
              <a:t>: bepaald wat met een element moet gedaan worden indien de inhoud groter is dan de afmetingen van het element</a:t>
            </a:r>
          </a:p>
          <a:p>
            <a:pPr lvl="1"/>
            <a:r>
              <a:rPr lang="nl-BE" sz="2800" dirty="0">
                <a:latin typeface="Myriad Pro Semibold"/>
              </a:rPr>
              <a:t>Mogelijk waarden:</a:t>
            </a:r>
          </a:p>
          <a:p>
            <a:pPr lvl="2"/>
            <a:r>
              <a:rPr lang="nl-BE" sz="2800" dirty="0">
                <a:latin typeface="Myriad Pro Semibold"/>
              </a:rPr>
              <a:t>Scroll: de grootte van het element wordt behouden + er worden scroll bars toegevoegd</a:t>
            </a:r>
          </a:p>
          <a:p>
            <a:pPr lvl="2"/>
            <a:r>
              <a:rPr lang="nl-BE" sz="2800" dirty="0">
                <a:latin typeface="Myriad Pro Semibold"/>
              </a:rPr>
              <a:t>Visible (default): de inhoud gaat buiten de grenzen van het element</a:t>
            </a:r>
          </a:p>
          <a:p>
            <a:pPr lvl="2"/>
            <a:r>
              <a:rPr lang="nl-BE" sz="2800" dirty="0">
                <a:latin typeface="Myriad Pro Semibold"/>
              </a:rPr>
              <a:t>Hidden: de grootte van het element wordt behouden (geen scrollbars)</a:t>
            </a:r>
          </a:p>
          <a:p>
            <a:pPr lvl="2"/>
            <a:r>
              <a:rPr lang="nl-BE" sz="2800" dirty="0">
                <a:latin typeface="Myriad Pro Semibold"/>
              </a:rPr>
              <a:t>Auto: de browser bepaald een van de vorige waarden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27297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Box model: </a:t>
            </a:r>
            <a:r>
              <a:rPr lang="nl-BE" dirty="0" err="1" smtClean="0"/>
              <a:t>Floating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lvl="1"/>
            <a:r>
              <a:rPr lang="nl-BE" sz="2800" dirty="0" smtClean="0">
                <a:latin typeface="Myriad Pro Semibold"/>
              </a:rPr>
              <a:t>Laat </a:t>
            </a:r>
            <a:r>
              <a:rPr lang="nl-BE" sz="2800" dirty="0">
                <a:latin typeface="Myriad Pro Semibold"/>
              </a:rPr>
              <a:t>toe een element op te schuiven zodat andere er langs kunnen geplaatst worden</a:t>
            </a:r>
          </a:p>
          <a:p>
            <a:pPr lvl="1"/>
            <a:r>
              <a:rPr lang="nl-BE" sz="2800" dirty="0">
                <a:latin typeface="Myriad Pro Semibold"/>
              </a:rPr>
              <a:t>Een element float enkel horizontaal binnen zijn parent element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p.floating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{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float: right;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background-color: blue;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width: 50px;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height: 50px;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358664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Floating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lvl="1"/>
            <a:r>
              <a:rPr lang="nl-BE" sz="2800" dirty="0" smtClean="0">
                <a:latin typeface="Myriad Pro Semibold"/>
              </a:rPr>
              <a:t>Indien </a:t>
            </a:r>
            <a:r>
              <a:rPr lang="nl-BE" sz="2800" dirty="0">
                <a:latin typeface="Myriad Pro Semibold"/>
              </a:rPr>
              <a:t>verschillende float elementen naast elkaar geplaatst worden nemen ze de ruimte naast elkaar in afhankelijk van de browser grootte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div.floatRow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{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float: right;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height: 100px;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width: 100px;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	background-color: red;</a:t>
            </a:r>
          </a:p>
          <a:p>
            <a:pPr marL="457200" lvl="1" indent="0">
              <a:buNone/>
            </a:pPr>
            <a:r>
              <a:rPr lang="nl-BE" sz="2800" dirty="0">
                <a:latin typeface="Myriad Pro Semibold"/>
              </a:rPr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70640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Floating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514807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/>
            <a:r>
              <a:rPr lang="nl-BE" sz="2400" dirty="0" smtClean="0">
                <a:latin typeface="Myriad Pro Semibold"/>
              </a:rPr>
              <a:t>Om </a:t>
            </a:r>
            <a:r>
              <a:rPr lang="nl-BE" sz="2400" dirty="0">
                <a:latin typeface="Myriad Pro Semibold"/>
              </a:rPr>
              <a:t>een float te vermijden aan een bepaalde zijde van een element =&gt; gebruik clear</a:t>
            </a:r>
          </a:p>
          <a:p>
            <a:pPr lvl="1"/>
            <a:r>
              <a:rPr lang="nl-BE" sz="2400" dirty="0">
                <a:latin typeface="Myriad Pro Semibold"/>
              </a:rPr>
              <a:t>Mogelijk waarden:</a:t>
            </a:r>
          </a:p>
          <a:p>
            <a:pPr lvl="2"/>
            <a:r>
              <a:rPr lang="nl-BE" sz="2400" dirty="0">
                <a:latin typeface="Myriad Pro Semibold"/>
              </a:rPr>
              <a:t>Right</a:t>
            </a:r>
          </a:p>
          <a:p>
            <a:pPr lvl="2"/>
            <a:r>
              <a:rPr lang="nl-BE" sz="2400" dirty="0">
                <a:latin typeface="Myriad Pro Semibold"/>
              </a:rPr>
              <a:t>Left</a:t>
            </a:r>
          </a:p>
          <a:p>
            <a:pPr lvl="2"/>
            <a:r>
              <a:rPr lang="nl-BE" sz="2400" dirty="0">
                <a:latin typeface="Myriad Pro Semibold"/>
              </a:rPr>
              <a:t>Both</a:t>
            </a:r>
          </a:p>
          <a:p>
            <a:pPr lvl="1"/>
            <a:r>
              <a:rPr lang="nl-BE" sz="2400" dirty="0">
                <a:latin typeface="Myriad Pro Semibold"/>
              </a:rPr>
              <a:t>(display: block zal geen effect hebben op de float eigenschappen van de omringende elementen clear:both is nodig om dit effect te bekomen) </a:t>
            </a:r>
          </a:p>
          <a:p>
            <a:r>
              <a:rPr lang="en-US" sz="2800" dirty="0" smtClean="0"/>
              <a:t>	.</a:t>
            </a:r>
            <a:r>
              <a:rPr lang="en-US" sz="2800" dirty="0" err="1"/>
              <a:t>text_line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	{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		</a:t>
            </a:r>
            <a:r>
              <a:rPr lang="en-US" sz="2800" dirty="0" err="1" smtClean="0"/>
              <a:t>clear:both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 smtClean="0"/>
              <a:t>	}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689693553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CSS </a:t>
            </a:r>
            <a:r>
              <a:rPr lang="nl-BE" dirty="0" err="1" smtClean="0"/>
              <a:t>Align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/>
          <a:lstStyle/>
          <a:p>
            <a:pPr lvl="1"/>
            <a:r>
              <a:rPr lang="nl-BE" sz="3200" dirty="0" smtClean="0">
                <a:latin typeface="Myriad Pro Semibold"/>
              </a:rPr>
              <a:t>Om </a:t>
            </a:r>
            <a:r>
              <a:rPr lang="nl-BE" sz="3200" dirty="0">
                <a:latin typeface="Myriad Pro Semibold"/>
              </a:rPr>
              <a:t>een block element te centreren moeten de rechtse en linkse margin op de waarde auto </a:t>
            </a:r>
            <a:r>
              <a:rPr lang="nl-BE" sz="3200" dirty="0" smtClean="0">
                <a:latin typeface="Myriad Pro Semibold"/>
              </a:rPr>
              <a:t>staan.</a:t>
            </a:r>
          </a:p>
          <a:p>
            <a:pPr lvl="1"/>
            <a:endParaRPr lang="en-US" sz="3200" dirty="0" smtClean="0">
              <a:latin typeface="Myriad Pro Semibold"/>
            </a:endParaRPr>
          </a:p>
          <a:p>
            <a:pPr marL="457200" lvl="1" indent="0">
              <a:buNone/>
            </a:pPr>
            <a:r>
              <a:rPr lang="en-US" sz="3200" dirty="0" smtClean="0">
                <a:latin typeface="Myriad Pro Semibold"/>
              </a:rPr>
              <a:t>.</a:t>
            </a:r>
            <a:r>
              <a:rPr lang="en-US" sz="3200" dirty="0">
                <a:latin typeface="Myriad Pro Semibold"/>
              </a:rPr>
              <a:t>center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{</a:t>
            </a:r>
            <a:br>
              <a:rPr lang="en-US" sz="3200" dirty="0">
                <a:latin typeface="Myriad Pro Semibold"/>
              </a:rPr>
            </a:br>
            <a:r>
              <a:rPr lang="en-US" sz="3200" dirty="0" smtClean="0">
                <a:latin typeface="Myriad Pro Semibold"/>
              </a:rPr>
              <a:t>	</a:t>
            </a:r>
            <a:r>
              <a:rPr lang="en-US" sz="3200" dirty="0" err="1" smtClean="0">
                <a:latin typeface="Myriad Pro Semibold"/>
              </a:rPr>
              <a:t>margin-left:auto</a:t>
            </a:r>
            <a:r>
              <a:rPr lang="en-US" sz="3200" dirty="0">
                <a:latin typeface="Myriad Pro Semibold"/>
              </a:rPr>
              <a:t>;</a:t>
            </a:r>
            <a:br>
              <a:rPr lang="en-US" sz="3200" dirty="0">
                <a:latin typeface="Myriad Pro Semibold"/>
              </a:rPr>
            </a:br>
            <a:r>
              <a:rPr lang="en-US" sz="3200" dirty="0" smtClean="0">
                <a:latin typeface="Myriad Pro Semibold"/>
              </a:rPr>
              <a:t>	</a:t>
            </a:r>
            <a:r>
              <a:rPr lang="en-US" sz="3200" dirty="0" err="1" smtClean="0">
                <a:latin typeface="Myriad Pro Semibold"/>
              </a:rPr>
              <a:t>margin-right:auto</a:t>
            </a:r>
            <a:r>
              <a:rPr lang="en-US" sz="3200" dirty="0">
                <a:latin typeface="Myriad Pro Semibold"/>
              </a:rPr>
              <a:t>;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}</a:t>
            </a:r>
            <a:endParaRPr lang="nl-BE" sz="3200" dirty="0">
              <a:latin typeface="Myriad Pro Semibold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7132552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Align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09441" y="1481329"/>
            <a:ext cx="10969943" cy="4525963"/>
          </a:xfrm>
          <a:prstGeom prst="rect">
            <a:avLst/>
          </a:prstGeom>
        </p:spPr>
        <p:txBody>
          <a:bodyPr/>
          <a:lstStyle/>
          <a:p>
            <a:pPr lvl="1"/>
            <a:r>
              <a:rPr lang="nl-BE" sz="3200" dirty="0" smtClean="0">
                <a:latin typeface="Myriad Pro Semibold"/>
              </a:rPr>
              <a:t>Links </a:t>
            </a:r>
            <a:r>
              <a:rPr lang="nl-BE" sz="3200" dirty="0">
                <a:latin typeface="Myriad Pro Semibold"/>
              </a:rPr>
              <a:t>en rechts </a:t>
            </a:r>
            <a:r>
              <a:rPr lang="nl-BE" sz="3200" dirty="0" smtClean="0">
                <a:latin typeface="Myriad Pro Semibold"/>
              </a:rPr>
              <a:t>uitlijnen </a:t>
            </a:r>
            <a:r>
              <a:rPr lang="nl-BE" sz="3200" dirty="0">
                <a:latin typeface="Myriad Pro Semibold"/>
              </a:rPr>
              <a:t>via de position property</a:t>
            </a:r>
          </a:p>
          <a:p>
            <a:pPr marL="457200" lvl="1" indent="0">
              <a:buNone/>
            </a:pPr>
            <a:r>
              <a:rPr lang="en-US" sz="3200" dirty="0">
                <a:latin typeface="Myriad Pro Semibold"/>
              </a:rPr>
              <a:t>.right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{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	</a:t>
            </a:r>
            <a:r>
              <a:rPr lang="en-US" sz="3200" dirty="0" err="1">
                <a:latin typeface="Myriad Pro Semibold"/>
              </a:rPr>
              <a:t>position:absolute</a:t>
            </a:r>
            <a:r>
              <a:rPr lang="en-US" sz="3200" dirty="0">
                <a:latin typeface="Myriad Pro Semibold"/>
              </a:rPr>
              <a:t>;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	right:0px;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	width:300px;</a:t>
            </a:r>
            <a:br>
              <a:rPr lang="en-US" sz="3200" dirty="0">
                <a:latin typeface="Myriad Pro Semibold"/>
              </a:rPr>
            </a:br>
            <a:r>
              <a:rPr lang="en-US" sz="3200" dirty="0">
                <a:latin typeface="Myriad Pro Semibold"/>
              </a:rPr>
              <a:t>}</a:t>
            </a:r>
            <a:endParaRPr lang="nl-BE" sz="3200" dirty="0">
              <a:latin typeface="Myriad Pro Semibold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9759296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Navigation</a:t>
            </a:r>
            <a:r>
              <a:rPr lang="nl-BE" dirty="0" smtClean="0"/>
              <a:t> Bar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= lijst van links</a:t>
            </a:r>
          </a:p>
          <a:p>
            <a:r>
              <a:rPr lang="it-IT" dirty="0"/>
              <a:t>&lt;</a:t>
            </a:r>
            <a:r>
              <a:rPr lang="it-IT" dirty="0" err="1"/>
              <a:t>ul</a:t>
            </a:r>
            <a:r>
              <a:rPr lang="it-IT" dirty="0"/>
              <a:t>&gt;</a:t>
            </a:r>
          </a:p>
          <a:p>
            <a:r>
              <a:rPr lang="it-IT" dirty="0"/>
              <a:t>    &lt;li&gt;&lt;a href="</a:t>
            </a:r>
            <a:r>
              <a:rPr lang="it-IT" dirty="0" smtClean="0"/>
              <a:t>www.oak3.be</a:t>
            </a:r>
            <a:r>
              <a:rPr lang="it-IT" dirty="0"/>
              <a:t>"&gt;Intec&lt;/a&gt;&lt;/li&gt;</a:t>
            </a:r>
          </a:p>
          <a:p>
            <a:r>
              <a:rPr lang="it-IT" dirty="0"/>
              <a:t>    &lt;li&gt;&lt;a </a:t>
            </a:r>
            <a:r>
              <a:rPr lang="it-IT" dirty="0" smtClean="0"/>
              <a:t>href="www.vdab.be"&gt;VDAB&lt;/</a:t>
            </a:r>
            <a:r>
              <a:rPr lang="it-IT" dirty="0"/>
              <a:t>a&gt;&lt;/li&gt;</a:t>
            </a:r>
          </a:p>
          <a:p>
            <a:r>
              <a:rPr lang="it-IT" dirty="0"/>
              <a:t>    &lt;li&gt;&lt;a </a:t>
            </a:r>
            <a:r>
              <a:rPr lang="it-IT" dirty="0" err="1"/>
              <a:t>href</a:t>
            </a:r>
            <a:r>
              <a:rPr lang="it-IT" dirty="0"/>
              <a:t>="www.java.com"&gt;Java&lt;/a&gt;&lt;/li&gt;</a:t>
            </a:r>
          </a:p>
          <a:p>
            <a:r>
              <a:rPr lang="it-IT" dirty="0"/>
              <a:t>    &lt;li&gt;&lt;a </a:t>
            </a:r>
            <a:r>
              <a:rPr lang="it-IT" dirty="0" err="1"/>
              <a:t>href</a:t>
            </a:r>
            <a:r>
              <a:rPr lang="it-IT" dirty="0"/>
              <a:t>="www.microsoft.com"&gt;.NET&lt;/a&gt;&lt;/li&gt;</a:t>
            </a:r>
          </a:p>
          <a:p>
            <a:r>
              <a:rPr lang="it-IT" dirty="0"/>
              <a:t>&lt;/</a:t>
            </a:r>
            <a:r>
              <a:rPr lang="it-IT" dirty="0" err="1"/>
              <a:t>ul</a:t>
            </a:r>
            <a:r>
              <a:rPr lang="it-IT" dirty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824661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Navigation</a:t>
            </a:r>
            <a:r>
              <a:rPr lang="nl-BE" dirty="0" smtClean="0"/>
              <a:t> Bar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nl-BE" dirty="0" err="1" smtClean="0"/>
              <a:t>Margins</a:t>
            </a:r>
            <a:r>
              <a:rPr lang="nl-BE" dirty="0" smtClean="0"/>
              <a:t> en </a:t>
            </a:r>
            <a:r>
              <a:rPr lang="nl-BE" dirty="0" err="1" smtClean="0"/>
              <a:t>bullets</a:t>
            </a:r>
            <a:r>
              <a:rPr lang="nl-BE" dirty="0" smtClean="0"/>
              <a:t> verwijderen:</a:t>
            </a:r>
          </a:p>
          <a:p>
            <a:r>
              <a:rPr lang="en-US" dirty="0" err="1"/>
              <a:t>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list-style-type:none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margin:0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padding:0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7651977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Navigation</a:t>
            </a:r>
            <a:r>
              <a:rPr lang="nl-BE" dirty="0" smtClean="0"/>
              <a:t> Bar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r>
              <a:rPr lang="nl-BE" b="1" dirty="0" err="1" smtClean="0"/>
              <a:t>Vertical</a:t>
            </a:r>
            <a:r>
              <a:rPr lang="nl-BE" b="1" dirty="0" smtClean="0"/>
              <a:t> </a:t>
            </a:r>
            <a:r>
              <a:rPr lang="nl-BE" b="1" dirty="0" err="1" smtClean="0"/>
              <a:t>Navigation</a:t>
            </a:r>
            <a:r>
              <a:rPr lang="nl-BE" b="1" dirty="0" smtClean="0"/>
              <a:t> </a:t>
            </a:r>
            <a:r>
              <a:rPr lang="nl-BE" b="1" dirty="0"/>
              <a:t>Bar</a:t>
            </a:r>
            <a:endParaRPr lang="en-US" b="1" dirty="0"/>
          </a:p>
          <a:p>
            <a:r>
              <a:rPr lang="en-US" dirty="0" smtClean="0"/>
              <a:t>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display:block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width:60px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}</a:t>
            </a:r>
          </a:p>
          <a:p>
            <a:r>
              <a:rPr lang="nl-BE" b="1" dirty="0" err="1" smtClean="0"/>
              <a:t>Horizontal</a:t>
            </a:r>
            <a:r>
              <a:rPr lang="nl-BE" b="1" dirty="0" smtClean="0"/>
              <a:t> </a:t>
            </a:r>
            <a:r>
              <a:rPr lang="nl-BE" b="1" dirty="0" err="1"/>
              <a:t>N</a:t>
            </a:r>
            <a:r>
              <a:rPr lang="nl-BE" b="1" dirty="0" err="1" smtClean="0"/>
              <a:t>avigation</a:t>
            </a:r>
            <a:r>
              <a:rPr lang="nl-BE" b="1" dirty="0" smtClean="0"/>
              <a:t> Bar</a:t>
            </a:r>
            <a:endParaRPr lang="en-US" b="1" dirty="0" smtClean="0"/>
          </a:p>
          <a:p>
            <a:r>
              <a:rPr lang="en-US" dirty="0"/>
              <a:t>li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display:inline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6732433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Standaard geven browsers al een beetje CSS mee (denk aan h1, a,…)</a:t>
            </a:r>
          </a:p>
          <a:p>
            <a:pPr lvl="1"/>
            <a:r>
              <a:rPr lang="nl-BE" dirty="0" smtClean="0"/>
              <a:t>Vaak ook padding/</a:t>
            </a:r>
            <a:r>
              <a:rPr lang="nl-BE" dirty="0" err="1" smtClean="0"/>
              <a:t>margin</a:t>
            </a:r>
            <a:r>
              <a:rPr lang="nl-BE" dirty="0" smtClean="0"/>
              <a:t> waar je niet om vroeg</a:t>
            </a:r>
          </a:p>
          <a:p>
            <a:r>
              <a:rPr lang="nl-BE" dirty="0" smtClean="0"/>
              <a:t>Normalize.css</a:t>
            </a:r>
          </a:p>
          <a:p>
            <a:pPr lvl="1"/>
            <a:r>
              <a:rPr lang="nl-BE" dirty="0" smtClean="0"/>
              <a:t>Verwijdert </a:t>
            </a:r>
            <a:r>
              <a:rPr lang="nl-BE" dirty="0" err="1" smtClean="0"/>
              <a:t>css</a:t>
            </a:r>
            <a:r>
              <a:rPr lang="nl-BE" dirty="0"/>
              <a:t> </a:t>
            </a:r>
            <a:r>
              <a:rPr lang="nl-BE" dirty="0" smtClean="0"/>
              <a:t>die niet gewenst is in HTML5</a:t>
            </a:r>
          </a:p>
          <a:p>
            <a:pPr lvl="1"/>
            <a:r>
              <a:rPr lang="nl-BE" dirty="0" smtClean="0"/>
              <a:t>Voegt standaard </a:t>
            </a:r>
            <a:r>
              <a:rPr lang="nl-BE" dirty="0" err="1" smtClean="0"/>
              <a:t>css</a:t>
            </a:r>
            <a:r>
              <a:rPr lang="nl-BE" dirty="0" smtClean="0"/>
              <a:t> toe</a:t>
            </a:r>
          </a:p>
          <a:p>
            <a:r>
              <a:rPr lang="nl-BE" dirty="0" smtClean="0"/>
              <a:t>Reset.css</a:t>
            </a:r>
          </a:p>
          <a:p>
            <a:pPr lvl="1"/>
            <a:r>
              <a:rPr lang="nl-BE" dirty="0" smtClean="0"/>
              <a:t>Verwijdert alle </a:t>
            </a:r>
            <a:r>
              <a:rPr lang="nl-BE" dirty="0" err="1" smtClean="0"/>
              <a:t>css</a:t>
            </a:r>
            <a:r>
              <a:rPr lang="nl-BE" dirty="0" smtClean="0"/>
              <a:t> </a:t>
            </a:r>
          </a:p>
          <a:p>
            <a:pPr lvl="1"/>
            <a:r>
              <a:rPr lang="nl-BE" dirty="0" smtClean="0"/>
              <a:t>Mee oppassen</a:t>
            </a:r>
          </a:p>
          <a:p>
            <a:pPr lvl="2"/>
            <a:r>
              <a:rPr lang="nl-BE" dirty="0" smtClean="0"/>
              <a:t>Bv.: Sub-tag en Sup-tag CSS verdwijnt ook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Normalize</a:t>
            </a:r>
            <a:r>
              <a:rPr lang="nl-BE" dirty="0" smtClean="0"/>
              <a:t> &amp; reset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919885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Op dezelfde manier toevoegen als andere </a:t>
            </a:r>
            <a:r>
              <a:rPr lang="nl-BE" dirty="0" err="1"/>
              <a:t>stylesheets</a:t>
            </a:r>
            <a:endParaRPr lang="nl-BE" dirty="0"/>
          </a:p>
          <a:p>
            <a:pPr lvl="1"/>
            <a:r>
              <a:rPr lang="nl-BE" b="1" dirty="0" smtClean="0"/>
              <a:t>Maar: voor </a:t>
            </a:r>
            <a:r>
              <a:rPr lang="nl-BE" b="1" dirty="0"/>
              <a:t>eigen </a:t>
            </a:r>
            <a:r>
              <a:rPr lang="nl-BE" b="1" dirty="0" err="1" smtClean="0"/>
              <a:t>stylesheets</a:t>
            </a:r>
            <a:endParaRPr lang="nl-BE" b="1" dirty="0" smtClean="0"/>
          </a:p>
          <a:p>
            <a:r>
              <a:rPr lang="nl-BE" dirty="0" smtClean="0"/>
              <a:t>Goede download Normalize.css</a:t>
            </a:r>
          </a:p>
          <a:p>
            <a:pPr lvl="1"/>
            <a:r>
              <a:rPr lang="nl-BE" dirty="0" smtClean="0">
                <a:hlinkClick r:id="rId2"/>
              </a:rPr>
              <a:t>http://necolas.github.io/normalize.css/</a:t>
            </a:r>
            <a:endParaRPr lang="nl-BE" dirty="0" smtClean="0"/>
          </a:p>
          <a:p>
            <a:r>
              <a:rPr lang="nl-BE" dirty="0" smtClean="0"/>
              <a:t>Goede download Reset.css</a:t>
            </a:r>
          </a:p>
          <a:p>
            <a:pPr lvl="1"/>
            <a:r>
              <a:rPr lang="nl-BE" dirty="0">
                <a:hlinkClick r:id="rId3"/>
              </a:rPr>
              <a:t>https://code.google.com/p/html5resetcss/downloads/list</a:t>
            </a:r>
            <a:endParaRPr lang="nl-B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Normalize</a:t>
            </a:r>
            <a:r>
              <a:rPr lang="nl-BE" dirty="0" smtClean="0"/>
              <a:t> &amp; reset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1817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smtClean="0"/>
              <a:t>MAAK OPDRACHT </a:t>
            </a:r>
            <a:r>
              <a:rPr lang="en-GB" dirty="0"/>
              <a:t>2</a:t>
            </a:r>
            <a:endParaRPr lang="nl-BE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 smtClean="0"/>
              <a:t>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45033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Nieuwigheden CSS3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71500" indent="-571500">
              <a:buFontTx/>
              <a:buChar char="-"/>
            </a:pPr>
            <a:r>
              <a:rPr lang="nl-BE" dirty="0" smtClean="0"/>
              <a:t>Border-</a:t>
            </a:r>
            <a:r>
              <a:rPr lang="nl-BE" dirty="0" err="1" smtClean="0"/>
              <a:t>color</a:t>
            </a:r>
            <a:r>
              <a:rPr lang="nl-BE" dirty="0" smtClean="0"/>
              <a:t>, Border-image, Border-radius</a:t>
            </a:r>
          </a:p>
          <a:p>
            <a:pPr marL="571500" indent="-571500">
              <a:buFontTx/>
              <a:buChar char="-"/>
            </a:pPr>
            <a:r>
              <a:rPr lang="nl-BE" dirty="0" smtClean="0"/>
              <a:t>Tekst-</a:t>
            </a:r>
            <a:r>
              <a:rPr lang="nl-BE" dirty="0" err="1" smtClean="0"/>
              <a:t>shadow</a:t>
            </a:r>
            <a:endParaRPr lang="nl-BE" dirty="0" smtClean="0"/>
          </a:p>
          <a:p>
            <a:pPr marL="571500" indent="-571500">
              <a:buFontTx/>
              <a:buChar char="-"/>
            </a:pPr>
            <a:r>
              <a:rPr lang="nl-BE" dirty="0" err="1" smtClean="0"/>
              <a:t>Opacity</a:t>
            </a:r>
            <a:endParaRPr lang="nl-BE" dirty="0" smtClean="0"/>
          </a:p>
          <a:p>
            <a:pPr marL="571500" indent="-571500">
              <a:buFontTx/>
              <a:buChar char="-"/>
            </a:pPr>
            <a:r>
              <a:rPr lang="nl-BE" dirty="0" smtClean="0"/>
              <a:t>Multiple </a:t>
            </a:r>
            <a:r>
              <a:rPr lang="nl-BE" dirty="0" err="1" smtClean="0"/>
              <a:t>backgrounds</a:t>
            </a:r>
            <a:endParaRPr lang="nl-BE" dirty="0" smtClean="0"/>
          </a:p>
          <a:p>
            <a:pPr marL="571500" indent="-571500">
              <a:buFontTx/>
              <a:buChar char="-"/>
            </a:pPr>
            <a:r>
              <a:rPr lang="nl-BE" dirty="0" smtClean="0"/>
              <a:t>@font-face</a:t>
            </a:r>
          </a:p>
          <a:p>
            <a:pPr marL="571500" indent="-571500">
              <a:buFontTx/>
              <a:buChar char="-"/>
            </a:pPr>
            <a:r>
              <a:rPr lang="nl-BE" dirty="0" smtClean="0"/>
              <a:t>@media-screen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4373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DEMO: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7012" y="1371600"/>
            <a:ext cx="5318492" cy="2543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46812" y="3581400"/>
            <a:ext cx="5709366" cy="28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Bent-Up Arrow 8"/>
          <p:cNvSpPr/>
          <p:nvPr/>
        </p:nvSpPr>
        <p:spPr bwMode="auto">
          <a:xfrm rot="5400000">
            <a:off x="3366498" y="2682286"/>
            <a:ext cx="1295400" cy="4008028"/>
          </a:xfrm>
          <a:prstGeom prst="bentUpArrow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100031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err="1" smtClean="0"/>
              <a:t>Responsive</a:t>
            </a:r>
            <a:r>
              <a:rPr lang="nl-BE" dirty="0" smtClean="0"/>
              <a:t> webdesign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42976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DEMO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74812" y="1066800"/>
            <a:ext cx="8305800" cy="5613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3659776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csfile.org/uploads/posts/2012-05/1336313011_6836218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2" y="1164771"/>
            <a:ext cx="4495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1812" y="304800"/>
            <a:ext cx="35814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BE" sz="40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80000">
                      <a:schemeClr val="tx1">
                        <a:lumMod val="65000"/>
                        <a:lumOff val="35000"/>
                      </a:schemeClr>
                    </a:gs>
                  </a:gsLst>
                  <a:lin ang="16200000" scaled="0"/>
                </a:gradFill>
                <a:latin typeface="Segoe UI Light" pitchFamily="34" charset="0"/>
              </a:rPr>
              <a:t>CSS</a:t>
            </a:r>
            <a:endParaRPr lang="en-US" sz="4000" dirty="0" err="1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80000">
                    <a:schemeClr val="tx1">
                      <a:lumMod val="65000"/>
                      <a:lumOff val="35000"/>
                    </a:schemeClr>
                  </a:gs>
                </a:gsLst>
                <a:lin ang="16200000" scaled="0"/>
              </a:gradFill>
              <a:latin typeface="Segoe U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152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Les00_Hoofdstuk_template">
  <a:themeElements>
    <a:clrScheme name="Microsoft Colors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AEEF"/>
      </a:accent1>
      <a:accent2>
        <a:srgbClr val="8CC600"/>
      </a:accent2>
      <a:accent3>
        <a:srgbClr val="FF8A00"/>
      </a:accent3>
      <a:accent4>
        <a:srgbClr val="FF0097"/>
      </a:accent4>
      <a:accent5>
        <a:srgbClr val="0071BC"/>
      </a:accent5>
      <a:accent6>
        <a:srgbClr val="910091"/>
      </a:accent6>
      <a:hlink>
        <a:srgbClr val="0070C0"/>
      </a:hlink>
      <a:folHlink>
        <a:srgbClr val="0071BC"/>
      </a:folHlink>
    </a:clrScheme>
    <a:fontScheme name="Microsoft Corporate Fon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<a:prstTxWarp prst="textNoShape">
          <a:avLst/>
        </a:prstTxWarp>
        <a:noAutofit/>
      </a:bodyPr>
      <a:lstStyle>
        <a:defPPr defTabSz="914099" fontAlgn="base">
          <a:spcBef>
            <a:spcPct val="0"/>
          </a:spcBef>
          <a:spcAft>
            <a:spcPct val="0"/>
          </a:spcAft>
          <a:defRPr spc="-5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atin typeface="Segoe UI" pitchFamily="34" charset="0"/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4000" dirty="0" err="1" smtClean="0"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80000">
                  <a:schemeClr val="tx1">
                    <a:lumMod val="65000"/>
                    <a:lumOff val="35000"/>
                  </a:schemeClr>
                </a:gs>
              </a:gsLst>
              <a:lin ang="16200000" scaled="0"/>
            </a:gradFill>
            <a:latin typeface="Segoe UI Light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ak3">
  <a:themeElements>
    <a:clrScheme name="OAK3">
      <a:dk1>
        <a:sysClr val="windowText" lastClr="000000"/>
      </a:dk1>
      <a:lt1>
        <a:srgbClr val="93A220"/>
      </a:lt1>
      <a:dk2>
        <a:srgbClr val="E1E1E1"/>
      </a:dk2>
      <a:lt2>
        <a:srgbClr val="FFFFFF"/>
      </a:lt2>
      <a:accent1>
        <a:srgbClr val="C6DA2C"/>
      </a:accent1>
      <a:accent2>
        <a:srgbClr val="FFC71E"/>
      </a:accent2>
      <a:accent3>
        <a:srgbClr val="DA6F9A"/>
      </a:accent3>
      <a:accent4>
        <a:srgbClr val="826DDA"/>
      </a:accent4>
      <a:accent5>
        <a:srgbClr val="3DBFDA"/>
      </a:accent5>
      <a:accent6>
        <a:srgbClr val="5DDAA3"/>
      </a:accent6>
      <a:hlink>
        <a:srgbClr val="C6DA2C"/>
      </a:hlink>
      <a:folHlink>
        <a:srgbClr val="C6DA2C"/>
      </a:folHlink>
    </a:clrScheme>
    <a:fontScheme name="Sky">
      <a:majorFont>
        <a:latin typeface="Arial Rounded MT Bold"/>
        <a:ea typeface=""/>
        <a:cs typeface=""/>
        <a:font script="Jpan" typeface="ＭＳ Ｐゴシック"/>
      </a:majorFont>
      <a:minorFont>
        <a:latin typeface="Arial Rounded MT Bold"/>
        <a:ea typeface=""/>
        <a:cs typeface=""/>
        <a:font script="Jpan" typeface="ＭＳ Ｐゴシック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ak3" id="{7E24A98B-C1A3-4F45-B13D-849B8A04A2BC}" vid="{7312AA76-4A11-4B7A-8D3E-B2BF8B418BB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Les00_Hoofdstuk_template</Template>
  <TotalTime>5329</TotalTime>
  <Words>1084</Words>
  <Application>Microsoft Office PowerPoint</Application>
  <PresentationFormat>Aangepast</PresentationFormat>
  <Paragraphs>365</Paragraphs>
  <Slides>51</Slides>
  <Notes>13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51</vt:i4>
      </vt:variant>
    </vt:vector>
  </HeadingPairs>
  <TitlesOfParts>
    <vt:vector size="66" baseType="lpstr">
      <vt:lpstr>Arial</vt:lpstr>
      <vt:lpstr>Arial Rounded MT Bold</vt:lpstr>
      <vt:lpstr>Calibri</vt:lpstr>
      <vt:lpstr>Consolas</vt:lpstr>
      <vt:lpstr>Courier New</vt:lpstr>
      <vt:lpstr>Georgia</vt:lpstr>
      <vt:lpstr>Myriad Pro Semibold</vt:lpstr>
      <vt:lpstr>Segoe UI</vt:lpstr>
      <vt:lpstr>Segoe UI Light</vt:lpstr>
      <vt:lpstr>Symbol</vt:lpstr>
      <vt:lpstr>Times New Roman</vt:lpstr>
      <vt:lpstr>Verdana</vt:lpstr>
      <vt:lpstr>Wingdings</vt:lpstr>
      <vt:lpstr>Les00_Hoofdstuk_template</vt:lpstr>
      <vt:lpstr>Oak3</vt:lpstr>
      <vt:lpstr>Java Developer</vt:lpstr>
      <vt:lpstr>Vandaag</vt:lpstr>
      <vt:lpstr>PowerPoint-presentatie</vt:lpstr>
      <vt:lpstr>CSS: theorie</vt:lpstr>
      <vt:lpstr>External stylesheet</vt:lpstr>
      <vt:lpstr>Embedded Style</vt:lpstr>
      <vt:lpstr>Inline style</vt:lpstr>
      <vt:lpstr>CSS Syntax</vt:lpstr>
      <vt:lpstr>Class attribuut</vt:lpstr>
      <vt:lpstr>CSS - Syntax</vt:lpstr>
      <vt:lpstr>Id attribuut</vt:lpstr>
      <vt:lpstr>Id attribuut</vt:lpstr>
      <vt:lpstr>CSS + HTML</vt:lpstr>
      <vt:lpstr>PowerPoint-presentatie</vt:lpstr>
      <vt:lpstr>CSS - attributen</vt:lpstr>
      <vt:lpstr>CSS - attributen</vt:lpstr>
      <vt:lpstr>Colors</vt:lpstr>
      <vt:lpstr>Colors</vt:lpstr>
      <vt:lpstr>CSS font </vt:lpstr>
      <vt:lpstr>Voorbeeld</vt:lpstr>
      <vt:lpstr>EM, PT, PX of % ? </vt:lpstr>
      <vt:lpstr>EM: Google  </vt:lpstr>
      <vt:lpstr>PowerPoint-presentatie</vt:lpstr>
      <vt:lpstr>CSS links</vt:lpstr>
      <vt:lpstr>CSS lists</vt:lpstr>
      <vt:lpstr>CSS tables: voorbeeld</vt:lpstr>
      <vt:lpstr>PowerPoint-presentatie</vt:lpstr>
      <vt:lpstr>Grouping en Nesting</vt:lpstr>
      <vt:lpstr>Basis: het box-model</vt:lpstr>
      <vt:lpstr>Box-model: display</vt:lpstr>
      <vt:lpstr>Box model: Visibility</vt:lpstr>
      <vt:lpstr>Box-model: positioning</vt:lpstr>
      <vt:lpstr>Voorbeelden</vt:lpstr>
      <vt:lpstr>Z-index</vt:lpstr>
      <vt:lpstr>Positioning</vt:lpstr>
      <vt:lpstr>Box model: Floating</vt:lpstr>
      <vt:lpstr>Floating</vt:lpstr>
      <vt:lpstr>Floating</vt:lpstr>
      <vt:lpstr>CSS Align</vt:lpstr>
      <vt:lpstr>Align</vt:lpstr>
      <vt:lpstr>Navigation Bar</vt:lpstr>
      <vt:lpstr>Navigation Bar</vt:lpstr>
      <vt:lpstr>Navigation Bar</vt:lpstr>
      <vt:lpstr>Normalize &amp; reset</vt:lpstr>
      <vt:lpstr>Normalize &amp; reset</vt:lpstr>
      <vt:lpstr>PowerPoint-presentatie</vt:lpstr>
      <vt:lpstr>Nieuwigheden CSS3 </vt:lpstr>
      <vt:lpstr>DEMO:</vt:lpstr>
      <vt:lpstr>PowerPoint-presentatie</vt:lpstr>
      <vt:lpstr>DEMO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Van Gijsel</dc:creator>
  <cp:lastModifiedBy>Van Gijsel Kenneth</cp:lastModifiedBy>
  <cp:revision>151</cp:revision>
  <dcterms:created xsi:type="dcterms:W3CDTF">2012-12-20T15:27:28Z</dcterms:created>
  <dcterms:modified xsi:type="dcterms:W3CDTF">2017-10-02T11:37:47Z</dcterms:modified>
</cp:coreProperties>
</file>